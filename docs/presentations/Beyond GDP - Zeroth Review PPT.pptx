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p:restoredTop sz="94610"/>
  </p:normalViewPr>
  <p:slideViewPr>
    <p:cSldViewPr snapToGrid="0" snapToObjects="1">
      <p:cViewPr varScale="1">
        <p:scale>
          <a:sx n="120" d="100"/>
          <a:sy n="120" d="100"/>
        </p:scale>
        <p:origin x="192"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3398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4B"/>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028090"/>
          </a:solidFill>
          <a:ln/>
        </p:spPr>
        <p:txBody>
          <a:bodyPr/>
          <a:lstStyle/>
          <a:p>
            <a:endParaRPr lang="en-US"/>
          </a:p>
        </p:txBody>
      </p:sp>
      <p:sp>
        <p:nvSpPr>
          <p:cNvPr id="3" name="Shape 1"/>
          <p:cNvSpPr/>
          <p:nvPr/>
        </p:nvSpPr>
        <p:spPr>
          <a:xfrm>
            <a:off x="-1280160" y="4572000"/>
            <a:ext cx="3840480" cy="3840480"/>
          </a:xfrm>
          <a:prstGeom prst="ellipse">
            <a:avLst/>
          </a:prstGeom>
          <a:solidFill>
            <a:srgbClr val="00A896"/>
          </a:solidFill>
          <a:ln/>
        </p:spPr>
        <p:txBody>
          <a:bodyPr/>
          <a:lstStyle/>
          <a:p>
            <a:endParaRPr lang="en-US"/>
          </a:p>
        </p:txBody>
      </p:sp>
      <p:sp>
        <p:nvSpPr>
          <p:cNvPr id="4" name="Shape 2"/>
          <p:cNvSpPr/>
          <p:nvPr/>
        </p:nvSpPr>
        <p:spPr>
          <a:xfrm>
            <a:off x="10607040" y="4937760"/>
            <a:ext cx="2377440" cy="2377440"/>
          </a:xfrm>
          <a:prstGeom prst="ellipse">
            <a:avLst/>
          </a:prstGeom>
          <a:solidFill>
            <a:srgbClr val="02C39A"/>
          </a:solidFill>
          <a:ln/>
        </p:spPr>
        <p:txBody>
          <a:bodyPr/>
          <a:lstStyle/>
          <a:p>
            <a:endParaRPr lang="en-US"/>
          </a:p>
        </p:txBody>
      </p:sp>
      <p:sp>
        <p:nvSpPr>
          <p:cNvPr id="5" name="Text 3"/>
          <p:cNvSpPr/>
          <p:nvPr/>
        </p:nvSpPr>
        <p:spPr>
          <a:xfrm>
            <a:off x="822960" y="1051560"/>
            <a:ext cx="10515600" cy="365760"/>
          </a:xfrm>
          <a:prstGeom prst="rect">
            <a:avLst/>
          </a:prstGeom>
          <a:noFill/>
          <a:ln/>
        </p:spPr>
        <p:txBody>
          <a:bodyPr wrap="square" lIns="0" tIns="0" rIns="0" bIns="0"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EXPLORATORY DATA ANALYSIS  •  ZEROTH REVIEW</a:t>
            </a:r>
            <a:endParaRPr lang="en-US" sz="1300" dirty="0"/>
          </a:p>
        </p:txBody>
      </p:sp>
      <p:sp>
        <p:nvSpPr>
          <p:cNvPr id="6" name="Text 4"/>
          <p:cNvSpPr/>
          <p:nvPr/>
        </p:nvSpPr>
        <p:spPr>
          <a:xfrm>
            <a:off x="822960" y="1600200"/>
            <a:ext cx="1051560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Beyond GDP:</a:t>
            </a:r>
            <a:endParaRPr lang="en-US" sz="4600" dirty="0"/>
          </a:p>
        </p:txBody>
      </p:sp>
      <p:sp>
        <p:nvSpPr>
          <p:cNvPr id="7" name="Text 5"/>
          <p:cNvSpPr/>
          <p:nvPr/>
        </p:nvSpPr>
        <p:spPr>
          <a:xfrm>
            <a:off x="822960" y="2331720"/>
            <a:ext cx="10515600" cy="8686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What Really Makes a Country Livable?</a:t>
            </a:r>
            <a:endParaRPr lang="en-US" sz="4000" dirty="0"/>
          </a:p>
        </p:txBody>
      </p:sp>
      <p:sp>
        <p:nvSpPr>
          <p:cNvPr id="8" name="Text 6"/>
          <p:cNvSpPr/>
          <p:nvPr/>
        </p:nvSpPr>
        <p:spPr>
          <a:xfrm>
            <a:off x="822960" y="3200400"/>
            <a:ext cx="9692640" cy="502920"/>
          </a:xfrm>
          <a:prstGeom prst="rect">
            <a:avLst/>
          </a:prstGeom>
          <a:noFill/>
          <a:ln/>
        </p:spPr>
        <p:txBody>
          <a:bodyPr wrap="square" lIns="0" tIns="0" rIns="0" bIns="0" rtlCol="0" anchor="ctr"/>
          <a:lstStyle/>
          <a:p>
            <a:pPr marL="0" indent="0">
              <a:buNone/>
            </a:pPr>
            <a:r>
              <a:rPr lang="en-US" sz="1600" i="1" dirty="0">
                <a:solidFill>
                  <a:srgbClr val="CADCE0"/>
                </a:solidFill>
                <a:latin typeface="Calibri" pitchFamily="34" charset="0"/>
                <a:ea typeface="Calibri" pitchFamily="34" charset="-122"/>
                <a:cs typeface="Calibri" pitchFamily="34" charset="-120"/>
              </a:rPr>
              <a:t>An Exploratory Data Analysis of Economic, Social, Health and Environmental Indicators</a:t>
            </a:r>
            <a:endParaRPr lang="en-US" sz="1600" dirty="0"/>
          </a:p>
        </p:txBody>
      </p:sp>
      <p:sp>
        <p:nvSpPr>
          <p:cNvPr id="9" name="Shape 7"/>
          <p:cNvSpPr/>
          <p:nvPr/>
        </p:nvSpPr>
        <p:spPr>
          <a:xfrm>
            <a:off x="822960" y="4069080"/>
            <a:ext cx="0" cy="566928"/>
          </a:xfrm>
          <a:prstGeom prst="line">
            <a:avLst/>
          </a:prstGeom>
          <a:noFill/>
          <a:ln w="19050">
            <a:solidFill>
              <a:srgbClr val="00A896"/>
            </a:solidFill>
            <a:prstDash val="solid"/>
          </a:ln>
        </p:spPr>
        <p:txBody>
          <a:bodyPr/>
          <a:lstStyle/>
          <a:p>
            <a:endParaRPr lang="en-US"/>
          </a:p>
        </p:txBody>
      </p:sp>
      <p:sp>
        <p:nvSpPr>
          <p:cNvPr id="10" name="Text 8"/>
          <p:cNvSpPr/>
          <p:nvPr/>
        </p:nvSpPr>
        <p:spPr>
          <a:xfrm>
            <a:off x="987552" y="4050792"/>
            <a:ext cx="3017520" cy="256032"/>
          </a:xfrm>
          <a:prstGeom prst="rect">
            <a:avLst/>
          </a:prstGeom>
          <a:noFill/>
          <a:ln/>
        </p:spPr>
        <p:txBody>
          <a:bodyPr wrap="square" lIns="0" tIns="0" rIns="0" bIns="0" rtlCol="0" anchor="ctr"/>
          <a:lstStyle/>
          <a:p>
            <a:pPr marL="0" indent="0">
              <a:buNone/>
            </a:pPr>
            <a:r>
              <a:rPr lang="en-US" sz="1050" b="1" kern="0" spc="150" dirty="0">
                <a:solidFill>
                  <a:srgbClr val="02C39A"/>
                </a:solidFill>
                <a:latin typeface="Calibri" pitchFamily="34" charset="0"/>
                <a:ea typeface="Calibri" pitchFamily="34" charset="-122"/>
                <a:cs typeface="Calibri" pitchFamily="34" charset="-120"/>
              </a:rPr>
              <a:t>COURSE</a:t>
            </a:r>
            <a:endParaRPr lang="en-US" sz="1050" dirty="0"/>
          </a:p>
        </p:txBody>
      </p:sp>
      <p:sp>
        <p:nvSpPr>
          <p:cNvPr id="11" name="Text 9"/>
          <p:cNvSpPr/>
          <p:nvPr/>
        </p:nvSpPr>
        <p:spPr>
          <a:xfrm>
            <a:off x="987552" y="4288536"/>
            <a:ext cx="3017520" cy="3200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Exploratory Data Analysis</a:t>
            </a:r>
            <a:endParaRPr lang="en-US" sz="1400" dirty="0"/>
          </a:p>
        </p:txBody>
      </p:sp>
      <p:sp>
        <p:nvSpPr>
          <p:cNvPr id="12" name="Shape 10"/>
          <p:cNvSpPr/>
          <p:nvPr/>
        </p:nvSpPr>
        <p:spPr>
          <a:xfrm>
            <a:off x="4206240" y="4069080"/>
            <a:ext cx="0" cy="566928"/>
          </a:xfrm>
          <a:prstGeom prst="line">
            <a:avLst/>
          </a:prstGeom>
          <a:noFill/>
          <a:ln w="19050">
            <a:solidFill>
              <a:srgbClr val="00A896"/>
            </a:solidFill>
            <a:prstDash val="solid"/>
          </a:ln>
        </p:spPr>
        <p:txBody>
          <a:bodyPr/>
          <a:lstStyle/>
          <a:p>
            <a:endParaRPr lang="en-US"/>
          </a:p>
        </p:txBody>
      </p:sp>
      <p:sp>
        <p:nvSpPr>
          <p:cNvPr id="13" name="Text 11"/>
          <p:cNvSpPr/>
          <p:nvPr/>
        </p:nvSpPr>
        <p:spPr>
          <a:xfrm>
            <a:off x="4370832" y="4050792"/>
            <a:ext cx="3017520" cy="256032"/>
          </a:xfrm>
          <a:prstGeom prst="rect">
            <a:avLst/>
          </a:prstGeom>
          <a:noFill/>
          <a:ln/>
        </p:spPr>
        <p:txBody>
          <a:bodyPr wrap="square" lIns="0" tIns="0" rIns="0" bIns="0" rtlCol="0" anchor="ctr"/>
          <a:lstStyle/>
          <a:p>
            <a:pPr marL="0" indent="0">
              <a:buNone/>
            </a:pPr>
            <a:r>
              <a:rPr lang="en-US" sz="1050" b="1" kern="0" spc="150" dirty="0">
                <a:solidFill>
                  <a:srgbClr val="02C39A"/>
                </a:solidFill>
                <a:latin typeface="Calibri" pitchFamily="34" charset="0"/>
                <a:ea typeface="Calibri" pitchFamily="34" charset="-122"/>
                <a:cs typeface="Calibri" pitchFamily="34" charset="-120"/>
              </a:rPr>
              <a:t>DEPARTMENT</a:t>
            </a:r>
            <a:endParaRPr lang="en-US" sz="1050" dirty="0"/>
          </a:p>
        </p:txBody>
      </p:sp>
      <p:sp>
        <p:nvSpPr>
          <p:cNvPr id="14" name="Text 12"/>
          <p:cNvSpPr/>
          <p:nvPr/>
        </p:nvSpPr>
        <p:spPr>
          <a:xfrm>
            <a:off x="4370832" y="4288536"/>
            <a:ext cx="3017520" cy="3200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CSE – Data Science</a:t>
            </a:r>
            <a:endParaRPr lang="en-US" sz="1400" dirty="0"/>
          </a:p>
        </p:txBody>
      </p:sp>
      <p:sp>
        <p:nvSpPr>
          <p:cNvPr id="15" name="Shape 13"/>
          <p:cNvSpPr/>
          <p:nvPr/>
        </p:nvSpPr>
        <p:spPr>
          <a:xfrm>
            <a:off x="7589520" y="4069080"/>
            <a:ext cx="0" cy="566928"/>
          </a:xfrm>
          <a:prstGeom prst="line">
            <a:avLst/>
          </a:prstGeom>
          <a:noFill/>
          <a:ln w="19050">
            <a:solidFill>
              <a:srgbClr val="00A896"/>
            </a:solidFill>
            <a:prstDash val="solid"/>
          </a:ln>
        </p:spPr>
        <p:txBody>
          <a:bodyPr/>
          <a:lstStyle/>
          <a:p>
            <a:endParaRPr lang="en-US"/>
          </a:p>
        </p:txBody>
      </p:sp>
      <p:sp>
        <p:nvSpPr>
          <p:cNvPr id="16" name="Text 14"/>
          <p:cNvSpPr/>
          <p:nvPr/>
        </p:nvSpPr>
        <p:spPr>
          <a:xfrm>
            <a:off x="7754112" y="4050792"/>
            <a:ext cx="3017520" cy="256032"/>
          </a:xfrm>
          <a:prstGeom prst="rect">
            <a:avLst/>
          </a:prstGeom>
          <a:noFill/>
          <a:ln/>
        </p:spPr>
        <p:txBody>
          <a:bodyPr wrap="square" lIns="0" tIns="0" rIns="0" bIns="0" rtlCol="0" anchor="ctr"/>
          <a:lstStyle/>
          <a:p>
            <a:pPr marL="0" indent="0">
              <a:buNone/>
            </a:pPr>
            <a:r>
              <a:rPr lang="en-US" sz="1050" b="1" kern="0" spc="150" dirty="0">
                <a:solidFill>
                  <a:srgbClr val="02C39A"/>
                </a:solidFill>
                <a:latin typeface="Calibri" pitchFamily="34" charset="0"/>
                <a:ea typeface="Calibri" pitchFamily="34" charset="-122"/>
                <a:cs typeface="Calibri" pitchFamily="34" charset="-120"/>
              </a:rPr>
              <a:t>ACADEMIC YEAR</a:t>
            </a:r>
            <a:endParaRPr lang="en-US" sz="1050" dirty="0"/>
          </a:p>
        </p:txBody>
      </p:sp>
      <p:sp>
        <p:nvSpPr>
          <p:cNvPr id="17" name="Text 15"/>
          <p:cNvSpPr/>
          <p:nvPr/>
        </p:nvSpPr>
        <p:spPr>
          <a:xfrm>
            <a:off x="7754112" y="4288536"/>
            <a:ext cx="3017520" cy="3200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2026 – 27</a:t>
            </a:r>
            <a:endParaRPr lang="en-US" sz="1400" dirty="0"/>
          </a:p>
        </p:txBody>
      </p:sp>
      <p:sp>
        <p:nvSpPr>
          <p:cNvPr id="18" name="Shape 16"/>
          <p:cNvSpPr/>
          <p:nvPr/>
        </p:nvSpPr>
        <p:spPr>
          <a:xfrm>
            <a:off x="844226" y="5074920"/>
            <a:ext cx="10515600" cy="1234440"/>
          </a:xfrm>
          <a:prstGeom prst="roundRect">
            <a:avLst>
              <a:gd name="adj" fmla="val 5926"/>
            </a:avLst>
          </a:prstGeom>
          <a:solidFill>
            <a:srgbClr val="22485A"/>
          </a:solidFill>
          <a:ln/>
        </p:spPr>
        <p:txBody>
          <a:bodyPr/>
          <a:lstStyle/>
          <a:p>
            <a:endParaRPr lang="en-US"/>
          </a:p>
        </p:txBody>
      </p:sp>
      <p:sp>
        <p:nvSpPr>
          <p:cNvPr id="19" name="Text 17"/>
          <p:cNvSpPr/>
          <p:nvPr/>
        </p:nvSpPr>
        <p:spPr>
          <a:xfrm>
            <a:off x="1097280" y="5193792"/>
            <a:ext cx="3657600" cy="274320"/>
          </a:xfrm>
          <a:prstGeom prst="rect">
            <a:avLst/>
          </a:prstGeom>
          <a:noFill/>
          <a:ln/>
        </p:spPr>
        <p:txBody>
          <a:bodyPr wrap="square" lIns="0" tIns="0" rIns="0" bIns="0"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TEAM MEMBERS</a:t>
            </a:r>
            <a:endParaRPr lang="en-US" sz="1100" dirty="0"/>
          </a:p>
        </p:txBody>
      </p:sp>
      <p:sp>
        <p:nvSpPr>
          <p:cNvPr id="20" name="Text 18"/>
          <p:cNvSpPr/>
          <p:nvPr/>
        </p:nvSpPr>
        <p:spPr>
          <a:xfrm>
            <a:off x="1097280" y="5532120"/>
            <a:ext cx="3291840" cy="68580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PRIYANSH ASATI— 25BDS0268</a:t>
            </a:r>
            <a:endParaRPr lang="en-US" sz="1450" dirty="0"/>
          </a:p>
        </p:txBody>
      </p:sp>
      <p:sp>
        <p:nvSpPr>
          <p:cNvPr id="21" name="Text 19"/>
          <p:cNvSpPr/>
          <p:nvPr/>
        </p:nvSpPr>
        <p:spPr>
          <a:xfrm>
            <a:off x="4526280" y="5268433"/>
            <a:ext cx="3291840" cy="960120"/>
          </a:xfrm>
          <a:prstGeom prst="rect">
            <a:avLst/>
          </a:prstGeom>
          <a:noFill/>
          <a:ln/>
        </p:spPr>
        <p:txBody>
          <a:bodyPr wrap="square" lIns="0" tIns="0" rIns="0" bIns="0" rtlCol="0" anchor="t"/>
          <a:lstStyle/>
          <a:p>
            <a:r>
              <a:rPr lang="en-US" sz="1450" dirty="0">
                <a:solidFill>
                  <a:srgbClr val="FFFFFF"/>
                </a:solidFill>
                <a:latin typeface="Calibri" pitchFamily="34" charset="0"/>
                <a:ea typeface="Calibri" pitchFamily="34" charset="-122"/>
                <a:cs typeface="Calibri" pitchFamily="34" charset="-120"/>
              </a:rPr>
              <a:t>MEDISETTY VENKATA GURU SRI HARSHA — [25BDS0284]</a:t>
            </a:r>
            <a:endParaRPr lang="en-US" sz="1450" dirty="0"/>
          </a:p>
        </p:txBody>
      </p:sp>
      <p:sp>
        <p:nvSpPr>
          <p:cNvPr id="22" name="Text 20"/>
          <p:cNvSpPr/>
          <p:nvPr/>
        </p:nvSpPr>
        <p:spPr>
          <a:xfrm>
            <a:off x="7955280" y="5532120"/>
            <a:ext cx="3291840" cy="685800"/>
          </a:xfrm>
          <a:prstGeom prst="rect">
            <a:avLst/>
          </a:prstGeom>
          <a:noFill/>
          <a:ln/>
        </p:spPr>
        <p:txBody>
          <a:bodyPr wrap="square" lIns="0" tIns="0" rIns="0" bIns="0" rtlCol="0" anchor="t"/>
          <a:lstStyle/>
          <a:p>
            <a:r>
              <a:rPr lang="en-US" sz="1450" dirty="0">
                <a:solidFill>
                  <a:srgbClr val="FFFFFF"/>
                </a:solidFill>
                <a:latin typeface="Calibri" pitchFamily="34" charset="0"/>
                <a:ea typeface="Calibri" pitchFamily="34" charset="-122"/>
                <a:cs typeface="Calibri" pitchFamily="34" charset="-120"/>
              </a:rPr>
              <a:t>NAYANI BALAJI — [25BDS0167]</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01</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Project Overview &amp; Problem Statement</a:t>
            </a:r>
            <a:endParaRPr lang="en-US" sz="3000" dirty="0"/>
          </a:p>
        </p:txBody>
      </p:sp>
      <p:sp>
        <p:nvSpPr>
          <p:cNvPr id="4" name="Text 2"/>
          <p:cNvSpPr/>
          <p:nvPr/>
        </p:nvSpPr>
        <p:spPr>
          <a:xfrm>
            <a:off x="548640" y="1417320"/>
            <a:ext cx="5669280" cy="365760"/>
          </a:xfrm>
          <a:prstGeom prst="rect">
            <a:avLst/>
          </a:prstGeom>
          <a:noFill/>
          <a:ln/>
        </p:spPr>
        <p:txBody>
          <a:bodyPr wrap="square" lIns="0" tIns="0" rIns="0" bIns="0" rtlCol="0" anchor="ctr"/>
          <a:lstStyle/>
          <a:p>
            <a:pPr marL="0" indent="0">
              <a:buNone/>
            </a:pPr>
            <a:r>
              <a:rPr lang="en-US" sz="1700" b="1" dirty="0">
                <a:solidFill>
                  <a:srgbClr val="028090"/>
                </a:solidFill>
                <a:latin typeface="Cambria" pitchFamily="34" charset="0"/>
                <a:ea typeface="Cambria" pitchFamily="34" charset="-122"/>
                <a:cs typeface="Cambria" pitchFamily="34" charset="-120"/>
              </a:rPr>
              <a:t>Project Overview</a:t>
            </a:r>
            <a:endParaRPr lang="en-US" sz="1700" dirty="0"/>
          </a:p>
        </p:txBody>
      </p:sp>
      <p:sp>
        <p:nvSpPr>
          <p:cNvPr id="5" name="Text 3"/>
          <p:cNvSpPr/>
          <p:nvPr/>
        </p:nvSpPr>
        <p:spPr>
          <a:xfrm>
            <a:off x="548640" y="1828800"/>
            <a:ext cx="5669280" cy="3108960"/>
          </a:xfrm>
          <a:prstGeom prst="rect">
            <a:avLst/>
          </a:prstGeom>
          <a:noFill/>
          <a:ln/>
        </p:spPr>
        <p:txBody>
          <a:bodyPr wrap="square" lIns="0" tIns="0" rIns="0" bIns="0" rtlCol="0" anchor="t"/>
          <a:lstStyle/>
          <a:p>
            <a:pPr marL="177800" indent="-177800">
              <a:lnSpc>
                <a:spcPct val="108000"/>
              </a:lnSpc>
              <a:spcAft>
                <a:spcPts val="1000"/>
              </a:spcAft>
              <a:buSzPct val="100000"/>
              <a:buChar char="•"/>
            </a:pPr>
            <a:r>
              <a:rPr lang="en-US" sz="1350" dirty="0">
                <a:solidFill>
                  <a:srgbClr val="1F2D2E"/>
                </a:solidFill>
                <a:latin typeface="Calibri" pitchFamily="34" charset="0"/>
                <a:ea typeface="Calibri" pitchFamily="34" charset="-122"/>
                <a:cs typeface="Calibri" pitchFamily="34" charset="-120"/>
              </a:rPr>
              <a:t>GDP per capita is the most common yardstick used to compare nations, but it captures only economic output — not lived experience.</a:t>
            </a:r>
            <a:endParaRPr lang="en-US" sz="1350" dirty="0"/>
          </a:p>
          <a:p>
            <a:pPr marL="177800" indent="-177800">
              <a:lnSpc>
                <a:spcPct val="108000"/>
              </a:lnSpc>
              <a:spcAft>
                <a:spcPts val="1000"/>
              </a:spcAft>
              <a:buSzPct val="100000"/>
              <a:buChar char="•"/>
            </a:pPr>
            <a:r>
              <a:rPr lang="en-US" sz="1350" dirty="0">
                <a:solidFill>
                  <a:srgbClr val="1F2D2E"/>
                </a:solidFill>
                <a:latin typeface="Calibri" pitchFamily="34" charset="0"/>
                <a:ea typeface="Calibri" pitchFamily="34" charset="-122"/>
                <a:cs typeface="Calibri" pitchFamily="34" charset="-120"/>
              </a:rPr>
              <a:t>A country can be economically strong yet still face pollution, unemployment, weak healthcare, or unequal access to education.</a:t>
            </a:r>
            <a:endParaRPr lang="en-US" sz="1350" dirty="0"/>
          </a:p>
          <a:p>
            <a:pPr marL="177800" indent="-177800">
              <a:lnSpc>
                <a:spcPct val="108000"/>
              </a:lnSpc>
              <a:spcAft>
                <a:spcPts val="1000"/>
              </a:spcAft>
              <a:buSzPct val="100000"/>
              <a:buChar char="•"/>
            </a:pPr>
            <a:r>
              <a:rPr lang="en-US" sz="1350" dirty="0">
                <a:solidFill>
                  <a:srgbClr val="1F2D2E"/>
                </a:solidFill>
                <a:latin typeface="Calibri" pitchFamily="34" charset="0"/>
                <a:ea typeface="Calibri" pitchFamily="34" charset="-122"/>
                <a:cs typeface="Calibri" pitchFamily="34" charset="-120"/>
              </a:rPr>
              <a:t>Real livability is multidimensional: economic, health, social and environmental factors all interact together.</a:t>
            </a:r>
            <a:endParaRPr lang="en-US" sz="1350" dirty="0"/>
          </a:p>
          <a:p>
            <a:pPr marL="177800" indent="-177800">
              <a:lnSpc>
                <a:spcPct val="108000"/>
              </a:lnSpc>
              <a:spcAft>
                <a:spcPts val="1000"/>
              </a:spcAft>
              <a:buSzPct val="100000"/>
              <a:buChar char="•"/>
            </a:pPr>
            <a:r>
              <a:rPr lang="en-US" sz="1350" dirty="0">
                <a:solidFill>
                  <a:srgbClr val="1F2D2E"/>
                </a:solidFill>
                <a:latin typeface="Calibri" pitchFamily="34" charset="0"/>
                <a:ea typeface="Calibri" pitchFamily="34" charset="-122"/>
                <a:cs typeface="Calibri" pitchFamily="34" charset="-120"/>
              </a:rPr>
              <a:t>Exploratory Data Analysis (EDA) helps uncover hidden relationships, patterns and trade-offs across these dimensions before any conclusions are drawn.</a:t>
            </a:r>
            <a:endParaRPr lang="en-US" sz="1350" dirty="0"/>
          </a:p>
        </p:txBody>
      </p:sp>
      <p:sp>
        <p:nvSpPr>
          <p:cNvPr id="6" name="Shape 4"/>
          <p:cNvSpPr/>
          <p:nvPr/>
        </p:nvSpPr>
        <p:spPr>
          <a:xfrm>
            <a:off x="6537960" y="1417320"/>
            <a:ext cx="5074920" cy="4617720"/>
          </a:xfrm>
          <a:prstGeom prst="roundRect">
            <a:avLst>
              <a:gd name="adj" fmla="val 1584"/>
            </a:avLst>
          </a:prstGeom>
          <a:solidFill>
            <a:srgbClr val="0E4B57"/>
          </a:solidFill>
          <a:ln/>
          <a:effectLst>
            <a:outerShdw blurRad="76200" dist="25400" dir="5400000" algn="bl" rotWithShape="0">
              <a:srgbClr val="1B3A4B">
                <a:alpha val="12000"/>
              </a:srgbClr>
            </a:outerShdw>
          </a:effectLst>
        </p:spPr>
        <p:txBody>
          <a:bodyPr/>
          <a:lstStyle/>
          <a:p>
            <a:endParaRPr lang="en-US"/>
          </a:p>
        </p:txBody>
      </p:sp>
      <p:sp>
        <p:nvSpPr>
          <p:cNvPr id="7" name="Text 5"/>
          <p:cNvSpPr/>
          <p:nvPr/>
        </p:nvSpPr>
        <p:spPr>
          <a:xfrm>
            <a:off x="6858000" y="1691640"/>
            <a:ext cx="4480560" cy="274320"/>
          </a:xfrm>
          <a:prstGeom prst="rect">
            <a:avLst/>
          </a:prstGeom>
          <a:noFill/>
          <a:ln/>
        </p:spPr>
        <p:txBody>
          <a:bodyPr wrap="square" lIns="0" tIns="0" rIns="0" bIns="0" rtlCol="0" anchor="ctr"/>
          <a:lstStyle/>
          <a:p>
            <a:pPr marL="0" indent="0">
              <a:buNone/>
            </a:pPr>
            <a:r>
              <a:rPr lang="en-US" sz="1100" b="1" kern="0" spc="150" dirty="0">
                <a:solidFill>
                  <a:srgbClr val="02C39A"/>
                </a:solidFill>
                <a:latin typeface="Calibri" pitchFamily="34" charset="0"/>
                <a:ea typeface="Calibri" pitchFamily="34" charset="-122"/>
                <a:cs typeface="Calibri" pitchFamily="34" charset="-120"/>
              </a:rPr>
              <a:t>PROBLEM STATEMENT</a:t>
            </a:r>
            <a:endParaRPr lang="en-US" sz="1100" dirty="0"/>
          </a:p>
        </p:txBody>
      </p:sp>
      <p:sp>
        <p:nvSpPr>
          <p:cNvPr id="8" name="Text 6"/>
          <p:cNvSpPr/>
          <p:nvPr/>
        </p:nvSpPr>
        <p:spPr>
          <a:xfrm>
            <a:off x="6858000" y="2011680"/>
            <a:ext cx="4480560" cy="1051560"/>
          </a:xfrm>
          <a:prstGeom prst="rect">
            <a:avLst/>
          </a:prstGeom>
          <a:noFill/>
          <a:ln/>
        </p:spPr>
        <p:txBody>
          <a:bodyPr wrap="square" lIns="0" tIns="0" rIns="0" bIns="0" rtlCol="0" anchor="ctr"/>
          <a:lstStyle/>
          <a:p>
            <a:pPr marL="0" indent="0">
              <a:lnSpc>
                <a:spcPct val="110000"/>
              </a:lnSpc>
              <a:buNone/>
            </a:pPr>
            <a:r>
              <a:rPr lang="en-US" sz="1900" b="1" i="1" dirty="0">
                <a:solidFill>
                  <a:srgbClr val="FFFFFF"/>
                </a:solidFill>
                <a:latin typeface="Cambria" pitchFamily="34" charset="0"/>
                <a:ea typeface="Cambria" pitchFamily="34" charset="-122"/>
                <a:cs typeface="Cambria" pitchFamily="34" charset="-120"/>
              </a:rPr>
              <a:t>“Is economic prosperity enough</a:t>
            </a:r>
            <a:endParaRPr lang="en-US" sz="1900" dirty="0"/>
          </a:p>
          <a:p>
            <a:pPr marL="0" indent="0">
              <a:lnSpc>
                <a:spcPct val="110000"/>
              </a:lnSpc>
              <a:buNone/>
            </a:pPr>
            <a:r>
              <a:rPr lang="en-US" sz="1900" b="1" i="1" dirty="0">
                <a:solidFill>
                  <a:srgbClr val="FFFFFF"/>
                </a:solidFill>
                <a:latin typeface="Cambria" pitchFamily="34" charset="0"/>
                <a:ea typeface="Cambria" pitchFamily="34" charset="-122"/>
                <a:cs typeface="Cambria" pitchFamily="34" charset="-120"/>
              </a:rPr>
              <a:t>to make a country livable?”</a:t>
            </a:r>
            <a:endParaRPr lang="en-US" sz="1900" dirty="0"/>
          </a:p>
        </p:txBody>
      </p:sp>
      <p:sp>
        <p:nvSpPr>
          <p:cNvPr id="9" name="Shape 7"/>
          <p:cNvSpPr/>
          <p:nvPr/>
        </p:nvSpPr>
        <p:spPr>
          <a:xfrm>
            <a:off x="6858000" y="3200400"/>
            <a:ext cx="4160520" cy="0"/>
          </a:xfrm>
          <a:prstGeom prst="line">
            <a:avLst/>
          </a:prstGeom>
          <a:noFill/>
          <a:ln w="12700">
            <a:solidFill>
              <a:srgbClr val="00A896"/>
            </a:solidFill>
            <a:prstDash val="solid"/>
          </a:ln>
        </p:spPr>
        <p:txBody>
          <a:bodyPr/>
          <a:lstStyle/>
          <a:p>
            <a:endParaRPr lang="en-US"/>
          </a:p>
        </p:txBody>
      </p:sp>
      <p:sp>
        <p:nvSpPr>
          <p:cNvPr id="10" name="Shape 8"/>
          <p:cNvSpPr/>
          <p:nvPr/>
        </p:nvSpPr>
        <p:spPr>
          <a:xfrm>
            <a:off x="6858000" y="3364992"/>
            <a:ext cx="384048" cy="384048"/>
          </a:xfrm>
          <a:prstGeom prst="ellipse">
            <a:avLst/>
          </a:prstGeom>
          <a:solidFill>
            <a:srgbClr val="02C39A"/>
          </a:solidFill>
          <a:ln/>
        </p:spPr>
        <p:txBody>
          <a:bodyPr/>
          <a:lstStyle/>
          <a:p>
            <a:endParaRPr lang="en-US"/>
          </a:p>
        </p:txBody>
      </p:sp>
      <p:sp>
        <p:nvSpPr>
          <p:cNvPr id="11" name="Text 9"/>
          <p:cNvSpPr/>
          <p:nvPr/>
        </p:nvSpPr>
        <p:spPr>
          <a:xfrm>
            <a:off x="6858000" y="33649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p:nvPr/>
        </p:nvSpPr>
        <p:spPr>
          <a:xfrm>
            <a:off x="7406640" y="3337560"/>
            <a:ext cx="365760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Economic</a:t>
            </a:r>
            <a:endParaRPr lang="en-US" sz="1350" dirty="0"/>
          </a:p>
        </p:txBody>
      </p:sp>
      <p:sp>
        <p:nvSpPr>
          <p:cNvPr id="13" name="Text 11"/>
          <p:cNvSpPr/>
          <p:nvPr/>
        </p:nvSpPr>
        <p:spPr>
          <a:xfrm>
            <a:off x="7406640" y="3584448"/>
            <a:ext cx="3657600" cy="274320"/>
          </a:xfrm>
          <a:prstGeom prst="rect">
            <a:avLst/>
          </a:prstGeom>
          <a:noFill/>
          <a:ln/>
        </p:spPr>
        <p:txBody>
          <a:bodyPr wrap="square" lIns="0" tIns="0" rIns="0" bIns="0" rtlCol="0" anchor="ctr"/>
          <a:lstStyle/>
          <a:p>
            <a:pPr marL="0" indent="0">
              <a:buNone/>
            </a:pPr>
            <a:r>
              <a:rPr lang="en-US" sz="1100" dirty="0">
                <a:solidFill>
                  <a:srgbClr val="CADCE0"/>
                </a:solidFill>
                <a:latin typeface="Calibri" pitchFamily="34" charset="0"/>
                <a:ea typeface="Calibri" pitchFamily="34" charset="-122"/>
                <a:cs typeface="Calibri" pitchFamily="34" charset="-120"/>
              </a:rPr>
              <a:t>GDP, unemployment, inflation</a:t>
            </a:r>
            <a:endParaRPr lang="en-US" sz="1100" dirty="0"/>
          </a:p>
        </p:txBody>
      </p:sp>
      <p:sp>
        <p:nvSpPr>
          <p:cNvPr id="14" name="Shape 12"/>
          <p:cNvSpPr/>
          <p:nvPr/>
        </p:nvSpPr>
        <p:spPr>
          <a:xfrm>
            <a:off x="6858000" y="4023360"/>
            <a:ext cx="384048" cy="384048"/>
          </a:xfrm>
          <a:prstGeom prst="ellipse">
            <a:avLst/>
          </a:prstGeom>
          <a:solidFill>
            <a:srgbClr val="02C39A"/>
          </a:solidFill>
          <a:ln/>
        </p:spPr>
        <p:txBody>
          <a:bodyPr/>
          <a:lstStyle/>
          <a:p>
            <a:endParaRPr lang="en-US"/>
          </a:p>
        </p:txBody>
      </p:sp>
      <p:sp>
        <p:nvSpPr>
          <p:cNvPr id="15" name="Text 13"/>
          <p:cNvSpPr/>
          <p:nvPr/>
        </p:nvSpPr>
        <p:spPr>
          <a:xfrm>
            <a:off x="6858000" y="4023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Text 14"/>
          <p:cNvSpPr/>
          <p:nvPr/>
        </p:nvSpPr>
        <p:spPr>
          <a:xfrm>
            <a:off x="7406640" y="3995928"/>
            <a:ext cx="365760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Health</a:t>
            </a:r>
            <a:endParaRPr lang="en-US" sz="1350" dirty="0"/>
          </a:p>
        </p:txBody>
      </p:sp>
      <p:sp>
        <p:nvSpPr>
          <p:cNvPr id="17" name="Text 15"/>
          <p:cNvSpPr/>
          <p:nvPr/>
        </p:nvSpPr>
        <p:spPr>
          <a:xfrm>
            <a:off x="7406640" y="4242816"/>
            <a:ext cx="3657600" cy="274320"/>
          </a:xfrm>
          <a:prstGeom prst="rect">
            <a:avLst/>
          </a:prstGeom>
          <a:noFill/>
          <a:ln/>
        </p:spPr>
        <p:txBody>
          <a:bodyPr wrap="square" lIns="0" tIns="0" rIns="0" bIns="0" rtlCol="0" anchor="ctr"/>
          <a:lstStyle/>
          <a:p>
            <a:pPr marL="0" indent="0">
              <a:buNone/>
            </a:pPr>
            <a:r>
              <a:rPr lang="en-US" sz="1100" dirty="0">
                <a:solidFill>
                  <a:srgbClr val="CADCE0"/>
                </a:solidFill>
                <a:latin typeface="Calibri" pitchFamily="34" charset="0"/>
                <a:ea typeface="Calibri" pitchFamily="34" charset="-122"/>
                <a:cs typeface="Calibri" pitchFamily="34" charset="-120"/>
              </a:rPr>
              <a:t>Life expectancy, healthcare access</a:t>
            </a:r>
            <a:endParaRPr lang="en-US" sz="1100" dirty="0"/>
          </a:p>
        </p:txBody>
      </p:sp>
      <p:sp>
        <p:nvSpPr>
          <p:cNvPr id="18" name="Shape 16"/>
          <p:cNvSpPr/>
          <p:nvPr/>
        </p:nvSpPr>
        <p:spPr>
          <a:xfrm>
            <a:off x="6858000" y="4681728"/>
            <a:ext cx="384048" cy="384048"/>
          </a:xfrm>
          <a:prstGeom prst="ellipse">
            <a:avLst/>
          </a:prstGeom>
          <a:solidFill>
            <a:srgbClr val="02C39A"/>
          </a:solidFill>
          <a:ln/>
        </p:spPr>
        <p:txBody>
          <a:bodyPr/>
          <a:lstStyle/>
          <a:p>
            <a:endParaRPr lang="en-US"/>
          </a:p>
        </p:txBody>
      </p:sp>
      <p:sp>
        <p:nvSpPr>
          <p:cNvPr id="19" name="Text 17"/>
          <p:cNvSpPr/>
          <p:nvPr/>
        </p:nvSpPr>
        <p:spPr>
          <a:xfrm>
            <a:off x="6858000" y="46817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p:nvPr/>
        </p:nvSpPr>
        <p:spPr>
          <a:xfrm>
            <a:off x="7406640" y="4654296"/>
            <a:ext cx="365760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Social</a:t>
            </a:r>
            <a:endParaRPr lang="en-US" sz="1350" dirty="0"/>
          </a:p>
        </p:txBody>
      </p:sp>
      <p:sp>
        <p:nvSpPr>
          <p:cNvPr id="21" name="Text 19"/>
          <p:cNvSpPr/>
          <p:nvPr/>
        </p:nvSpPr>
        <p:spPr>
          <a:xfrm>
            <a:off x="7406640" y="4901184"/>
            <a:ext cx="3657600" cy="274320"/>
          </a:xfrm>
          <a:prstGeom prst="rect">
            <a:avLst/>
          </a:prstGeom>
          <a:noFill/>
          <a:ln/>
        </p:spPr>
        <p:txBody>
          <a:bodyPr wrap="square" lIns="0" tIns="0" rIns="0" bIns="0" rtlCol="0" anchor="ctr"/>
          <a:lstStyle/>
          <a:p>
            <a:pPr marL="0" indent="0">
              <a:buNone/>
            </a:pPr>
            <a:r>
              <a:rPr lang="en-US" sz="1100" dirty="0">
                <a:solidFill>
                  <a:srgbClr val="CADCE0"/>
                </a:solidFill>
                <a:latin typeface="Calibri" pitchFamily="34" charset="0"/>
                <a:ea typeface="Calibri" pitchFamily="34" charset="-122"/>
                <a:cs typeface="Calibri" pitchFamily="34" charset="-120"/>
              </a:rPr>
              <a:t>Education, internet access</a:t>
            </a:r>
            <a:endParaRPr lang="en-US" sz="1100" dirty="0"/>
          </a:p>
        </p:txBody>
      </p:sp>
      <p:sp>
        <p:nvSpPr>
          <p:cNvPr id="22" name="Shape 20"/>
          <p:cNvSpPr/>
          <p:nvPr/>
        </p:nvSpPr>
        <p:spPr>
          <a:xfrm>
            <a:off x="6858000" y="5340096"/>
            <a:ext cx="384048" cy="384048"/>
          </a:xfrm>
          <a:prstGeom prst="ellipse">
            <a:avLst/>
          </a:prstGeom>
          <a:solidFill>
            <a:srgbClr val="02C39A"/>
          </a:solidFill>
          <a:ln/>
        </p:spPr>
        <p:txBody>
          <a:bodyPr/>
          <a:lstStyle/>
          <a:p>
            <a:endParaRPr lang="en-US"/>
          </a:p>
        </p:txBody>
      </p:sp>
      <p:sp>
        <p:nvSpPr>
          <p:cNvPr id="23" name="Text 21"/>
          <p:cNvSpPr/>
          <p:nvPr/>
        </p:nvSpPr>
        <p:spPr>
          <a:xfrm>
            <a:off x="6858000" y="53400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4" name="Text 22"/>
          <p:cNvSpPr/>
          <p:nvPr/>
        </p:nvSpPr>
        <p:spPr>
          <a:xfrm>
            <a:off x="7406640" y="5312664"/>
            <a:ext cx="3657600" cy="2743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Environmental</a:t>
            </a:r>
            <a:endParaRPr lang="en-US" sz="1350" dirty="0"/>
          </a:p>
        </p:txBody>
      </p:sp>
      <p:sp>
        <p:nvSpPr>
          <p:cNvPr id="25" name="Text 23"/>
          <p:cNvSpPr/>
          <p:nvPr/>
        </p:nvSpPr>
        <p:spPr>
          <a:xfrm>
            <a:off x="7406640" y="5559552"/>
            <a:ext cx="3657600" cy="274320"/>
          </a:xfrm>
          <a:prstGeom prst="rect">
            <a:avLst/>
          </a:prstGeom>
          <a:noFill/>
          <a:ln/>
        </p:spPr>
        <p:txBody>
          <a:bodyPr wrap="square" lIns="0" tIns="0" rIns="0" bIns="0" rtlCol="0" anchor="ctr"/>
          <a:lstStyle/>
          <a:p>
            <a:pPr marL="0" indent="0">
              <a:buNone/>
            </a:pPr>
            <a:r>
              <a:rPr lang="en-US" sz="1100" dirty="0">
                <a:solidFill>
                  <a:srgbClr val="CADCE0"/>
                </a:solidFill>
                <a:latin typeface="Calibri" pitchFamily="34" charset="0"/>
                <a:ea typeface="Calibri" pitchFamily="34" charset="-122"/>
                <a:cs typeface="Calibri" pitchFamily="34" charset="-120"/>
              </a:rPr>
              <a:t>CO₂ emissions, air pollution</a:t>
            </a:r>
            <a:endParaRPr lang="en-US" sz="1100" dirty="0"/>
          </a:p>
        </p:txBody>
      </p:sp>
      <p:sp>
        <p:nvSpPr>
          <p:cNvPr id="26" name="Text 24"/>
          <p:cNvSpPr/>
          <p:nvPr/>
        </p:nvSpPr>
        <p:spPr>
          <a:xfrm>
            <a:off x="548640" y="5989320"/>
            <a:ext cx="11064240" cy="457200"/>
          </a:xfrm>
          <a:prstGeom prst="rect">
            <a:avLst/>
          </a:prstGeom>
          <a:noFill/>
          <a:ln/>
        </p:spPr>
        <p:txBody>
          <a:bodyPr wrap="square" lIns="0" tIns="0" rIns="0" bIns="0" rtlCol="0" anchor="ctr"/>
          <a:lstStyle/>
          <a:p>
            <a:pPr marL="0" indent="0">
              <a:buNone/>
            </a:pPr>
            <a:r>
              <a:rPr lang="en-US" sz="1200" i="1" dirty="0">
                <a:solidFill>
                  <a:srgbClr val="5B6E70"/>
                </a:solidFill>
                <a:latin typeface="Calibri" pitchFamily="34" charset="0"/>
                <a:ea typeface="Calibri" pitchFamily="34" charset="-122"/>
                <a:cs typeface="Calibri" pitchFamily="34" charset="-120"/>
              </a:rPr>
              <a:t>EDA is used to identify patterns and associations across countries and years — not to prove causation.</a:t>
            </a:r>
            <a:endParaRPr lang="en-US" sz="1200" dirty="0"/>
          </a:p>
        </p:txBody>
      </p:sp>
      <p:sp>
        <p:nvSpPr>
          <p:cNvPr id="27" name="Text 25"/>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28" name="Text 26"/>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02</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548640" y="1417320"/>
            <a:ext cx="11064240" cy="960120"/>
          </a:xfrm>
          <a:prstGeom prst="roundRect">
            <a:avLst>
              <a:gd name="adj" fmla="val 7619"/>
            </a:avLst>
          </a:prstGeom>
          <a:solidFill>
            <a:srgbClr val="028090"/>
          </a:solidFill>
          <a:ln/>
        </p:spPr>
        <p:txBody>
          <a:bodyPr/>
          <a:lstStyle/>
          <a:p>
            <a:endParaRPr lang="en-US"/>
          </a:p>
        </p:txBody>
      </p:sp>
      <p:sp>
        <p:nvSpPr>
          <p:cNvPr id="5" name="Text 3"/>
          <p:cNvSpPr/>
          <p:nvPr/>
        </p:nvSpPr>
        <p:spPr>
          <a:xfrm>
            <a:off x="868680" y="1536192"/>
            <a:ext cx="2743200" cy="274320"/>
          </a:xfrm>
          <a:prstGeom prst="rect">
            <a:avLst/>
          </a:prstGeom>
          <a:noFill/>
          <a:ln/>
        </p:spPr>
        <p:txBody>
          <a:bodyPr wrap="square" lIns="0" tIns="0" rIns="0" bIns="0" rtlCol="0" anchor="ctr"/>
          <a:lstStyle/>
          <a:p>
            <a:pPr marL="0" indent="0">
              <a:buNone/>
            </a:pPr>
            <a:r>
              <a:rPr lang="en-US" sz="1050" b="1" kern="0" spc="150" dirty="0">
                <a:solidFill>
                  <a:srgbClr val="02C39A"/>
                </a:solidFill>
                <a:latin typeface="Calibri" pitchFamily="34" charset="0"/>
                <a:ea typeface="Calibri" pitchFamily="34" charset="-122"/>
                <a:cs typeface="Calibri" pitchFamily="34" charset="-120"/>
              </a:rPr>
              <a:t>PRIMARY OBJECTIVE</a:t>
            </a:r>
            <a:endParaRPr lang="en-US" sz="1050" dirty="0"/>
          </a:p>
        </p:txBody>
      </p:sp>
      <p:sp>
        <p:nvSpPr>
          <p:cNvPr id="6" name="Text 4"/>
          <p:cNvSpPr/>
          <p:nvPr/>
        </p:nvSpPr>
        <p:spPr>
          <a:xfrm>
            <a:off x="868680" y="1783080"/>
            <a:ext cx="10424160" cy="548640"/>
          </a:xfrm>
          <a:prstGeom prst="rect">
            <a:avLst/>
          </a:prstGeom>
          <a:noFill/>
          <a:ln/>
        </p:spPr>
        <p:txBody>
          <a:bodyPr wrap="square" lIns="0" tIns="0" rIns="0" bIns="0" rtlCol="0" anchor="ctr"/>
          <a:lstStyle/>
          <a:p>
            <a:pPr marL="0" indent="0">
              <a:lnSpc>
                <a:spcPct val="105000"/>
              </a:lnSpc>
              <a:buNone/>
            </a:pPr>
            <a:r>
              <a:rPr lang="en-US" sz="1300" dirty="0">
                <a:solidFill>
                  <a:srgbClr val="FFFFFF"/>
                </a:solidFill>
                <a:latin typeface="Calibri" pitchFamily="34" charset="0"/>
                <a:ea typeface="Calibri" pitchFamily="34" charset="-122"/>
                <a:cs typeface="Calibri" pitchFamily="34" charset="-120"/>
              </a:rPr>
              <a:t>To explore and understand the economic, health, social and environmental factors associated with country-level livability, going beyond GDP as a single measure of development.</a:t>
            </a:r>
            <a:endParaRPr lang="en-US" sz="1300" dirty="0"/>
          </a:p>
        </p:txBody>
      </p:sp>
      <p:sp>
        <p:nvSpPr>
          <p:cNvPr id="7" name="Text 5"/>
          <p:cNvSpPr/>
          <p:nvPr/>
        </p:nvSpPr>
        <p:spPr>
          <a:xfrm>
            <a:off x="548640" y="2606040"/>
            <a:ext cx="5486400" cy="320040"/>
          </a:xfrm>
          <a:prstGeom prst="rect">
            <a:avLst/>
          </a:prstGeom>
          <a:noFill/>
          <a:ln/>
        </p:spPr>
        <p:txBody>
          <a:bodyPr wrap="square" lIns="0" tIns="0" rIns="0" bIns="0"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Secondary Objectives</a:t>
            </a:r>
            <a:endParaRPr lang="en-US" sz="1600" dirty="0"/>
          </a:p>
        </p:txBody>
      </p:sp>
      <p:sp>
        <p:nvSpPr>
          <p:cNvPr id="8" name="Shape 6"/>
          <p:cNvSpPr/>
          <p:nvPr/>
        </p:nvSpPr>
        <p:spPr>
          <a:xfrm>
            <a:off x="548640" y="3063240"/>
            <a:ext cx="329184" cy="329184"/>
          </a:xfrm>
          <a:prstGeom prst="ellipse">
            <a:avLst/>
          </a:prstGeom>
          <a:solidFill>
            <a:srgbClr val="00A896"/>
          </a:solidFill>
          <a:ln/>
        </p:spPr>
        <p:txBody>
          <a:bodyPr/>
          <a:lstStyle/>
          <a:p>
            <a:endParaRPr lang="en-US"/>
          </a:p>
        </p:txBody>
      </p:sp>
      <p:sp>
        <p:nvSpPr>
          <p:cNvPr id="9" name="Text 7"/>
          <p:cNvSpPr/>
          <p:nvPr/>
        </p:nvSpPr>
        <p:spPr>
          <a:xfrm>
            <a:off x="548640" y="30632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p:nvPr/>
        </p:nvSpPr>
        <p:spPr>
          <a:xfrm>
            <a:off x="1024128" y="3008376"/>
            <a:ext cx="4937760" cy="640080"/>
          </a:xfrm>
          <a:prstGeom prst="rect">
            <a:avLst/>
          </a:prstGeom>
          <a:noFill/>
          <a:ln/>
        </p:spPr>
        <p:txBody>
          <a:bodyPr wrap="square" lIns="0" tIns="0" rIns="0" bIns="0" rtlCol="0" anchor="t"/>
          <a:lstStyle/>
          <a:p>
            <a:pPr marL="0" indent="0">
              <a:lnSpc>
                <a:spcPct val="102000"/>
              </a:lnSpc>
              <a:buNone/>
            </a:pPr>
            <a:r>
              <a:rPr lang="en-US" sz="1180" dirty="0">
                <a:solidFill>
                  <a:srgbClr val="1F2D2E"/>
                </a:solidFill>
                <a:latin typeface="Calibri" pitchFamily="34" charset="0"/>
                <a:ea typeface="Calibri" pitchFamily="34" charset="-122"/>
                <a:cs typeface="Calibri" pitchFamily="34" charset="-120"/>
              </a:rPr>
              <a:t>Study the relationship between GDP per capita and quality-of-life indicators</a:t>
            </a:r>
            <a:endParaRPr lang="en-US" sz="1180" dirty="0"/>
          </a:p>
        </p:txBody>
      </p:sp>
      <p:sp>
        <p:nvSpPr>
          <p:cNvPr id="11" name="Shape 9"/>
          <p:cNvSpPr/>
          <p:nvPr/>
        </p:nvSpPr>
        <p:spPr>
          <a:xfrm>
            <a:off x="6172200" y="3063240"/>
            <a:ext cx="329184" cy="329184"/>
          </a:xfrm>
          <a:prstGeom prst="ellipse">
            <a:avLst/>
          </a:prstGeom>
          <a:solidFill>
            <a:srgbClr val="02C39A"/>
          </a:solidFill>
          <a:ln/>
        </p:spPr>
        <p:txBody>
          <a:bodyPr/>
          <a:lstStyle/>
          <a:p>
            <a:endParaRPr lang="en-US"/>
          </a:p>
        </p:txBody>
      </p:sp>
      <p:sp>
        <p:nvSpPr>
          <p:cNvPr id="12" name="Text 10"/>
          <p:cNvSpPr/>
          <p:nvPr/>
        </p:nvSpPr>
        <p:spPr>
          <a:xfrm>
            <a:off x="6172200" y="306324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6647688" y="3008376"/>
            <a:ext cx="4937760" cy="640080"/>
          </a:xfrm>
          <a:prstGeom prst="rect">
            <a:avLst/>
          </a:prstGeom>
          <a:noFill/>
          <a:ln/>
        </p:spPr>
        <p:txBody>
          <a:bodyPr wrap="square" lIns="0" tIns="0" rIns="0" bIns="0" rtlCol="0" anchor="t"/>
          <a:lstStyle/>
          <a:p>
            <a:pPr marL="0" indent="0">
              <a:lnSpc>
                <a:spcPct val="102000"/>
              </a:lnSpc>
              <a:buNone/>
            </a:pPr>
            <a:r>
              <a:rPr lang="en-US" sz="1180" dirty="0">
                <a:solidFill>
                  <a:srgbClr val="1F2D2E"/>
                </a:solidFill>
                <a:latin typeface="Calibri" pitchFamily="34" charset="0"/>
                <a:ea typeface="Calibri" pitchFamily="34" charset="-122"/>
                <a:cs typeface="Calibri" pitchFamily="34" charset="-120"/>
              </a:rPr>
              <a:t>Compare economic, social, health and environmental indicators across countries</a:t>
            </a:r>
            <a:endParaRPr lang="en-US" sz="1180" dirty="0"/>
          </a:p>
        </p:txBody>
      </p:sp>
      <p:sp>
        <p:nvSpPr>
          <p:cNvPr id="14" name="Shape 12"/>
          <p:cNvSpPr/>
          <p:nvPr/>
        </p:nvSpPr>
        <p:spPr>
          <a:xfrm>
            <a:off x="548640" y="3822192"/>
            <a:ext cx="329184" cy="329184"/>
          </a:xfrm>
          <a:prstGeom prst="ellipse">
            <a:avLst/>
          </a:prstGeom>
          <a:solidFill>
            <a:srgbClr val="00A896"/>
          </a:solidFill>
          <a:ln/>
        </p:spPr>
        <p:txBody>
          <a:bodyPr/>
          <a:lstStyle/>
          <a:p>
            <a:endParaRPr lang="en-US"/>
          </a:p>
        </p:txBody>
      </p:sp>
      <p:sp>
        <p:nvSpPr>
          <p:cNvPr id="15" name="Text 13"/>
          <p:cNvSpPr/>
          <p:nvPr/>
        </p:nvSpPr>
        <p:spPr>
          <a:xfrm>
            <a:off x="548640" y="382219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1024128" y="3767328"/>
            <a:ext cx="4937760" cy="640080"/>
          </a:xfrm>
          <a:prstGeom prst="rect">
            <a:avLst/>
          </a:prstGeom>
          <a:noFill/>
          <a:ln/>
        </p:spPr>
        <p:txBody>
          <a:bodyPr wrap="square" lIns="0" tIns="0" rIns="0" bIns="0" rtlCol="0" anchor="t"/>
          <a:lstStyle/>
          <a:p>
            <a:pPr marL="0" indent="0">
              <a:lnSpc>
                <a:spcPct val="102000"/>
              </a:lnSpc>
              <a:buNone/>
            </a:pPr>
            <a:r>
              <a:rPr lang="en-US" sz="1180" dirty="0">
                <a:solidFill>
                  <a:srgbClr val="1F2D2E"/>
                </a:solidFill>
                <a:latin typeface="Calibri" pitchFamily="34" charset="0"/>
                <a:ea typeface="Calibri" pitchFamily="34" charset="-122"/>
                <a:cs typeface="Calibri" pitchFamily="34" charset="-120"/>
              </a:rPr>
              <a:t>Perform correlation analysis between prosperity and well-being measures</a:t>
            </a:r>
            <a:endParaRPr lang="en-US" sz="1180" dirty="0"/>
          </a:p>
        </p:txBody>
      </p:sp>
      <p:sp>
        <p:nvSpPr>
          <p:cNvPr id="17" name="Shape 15"/>
          <p:cNvSpPr/>
          <p:nvPr/>
        </p:nvSpPr>
        <p:spPr>
          <a:xfrm>
            <a:off x="6172200" y="3822192"/>
            <a:ext cx="329184" cy="329184"/>
          </a:xfrm>
          <a:prstGeom prst="ellipse">
            <a:avLst/>
          </a:prstGeom>
          <a:solidFill>
            <a:srgbClr val="02C39A"/>
          </a:solidFill>
          <a:ln/>
        </p:spPr>
        <p:txBody>
          <a:bodyPr/>
          <a:lstStyle/>
          <a:p>
            <a:endParaRPr lang="en-US"/>
          </a:p>
        </p:txBody>
      </p:sp>
      <p:sp>
        <p:nvSpPr>
          <p:cNvPr id="18" name="Text 16"/>
          <p:cNvSpPr/>
          <p:nvPr/>
        </p:nvSpPr>
        <p:spPr>
          <a:xfrm>
            <a:off x="6172200" y="3822192"/>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p:nvPr/>
        </p:nvSpPr>
        <p:spPr>
          <a:xfrm>
            <a:off x="6647688" y="3767328"/>
            <a:ext cx="4937760" cy="640080"/>
          </a:xfrm>
          <a:prstGeom prst="rect">
            <a:avLst/>
          </a:prstGeom>
          <a:noFill/>
          <a:ln/>
        </p:spPr>
        <p:txBody>
          <a:bodyPr wrap="square" lIns="0" tIns="0" rIns="0" bIns="0" rtlCol="0" anchor="t"/>
          <a:lstStyle/>
          <a:p>
            <a:pPr marL="0" indent="0">
              <a:lnSpc>
                <a:spcPct val="102000"/>
              </a:lnSpc>
              <a:buNone/>
            </a:pPr>
            <a:r>
              <a:rPr lang="en-US" sz="1180" dirty="0">
                <a:solidFill>
                  <a:srgbClr val="1F2D2E"/>
                </a:solidFill>
                <a:latin typeface="Calibri" pitchFamily="34" charset="0"/>
                <a:ea typeface="Calibri" pitchFamily="34" charset="-122"/>
                <a:cs typeface="Calibri" pitchFamily="34" charset="-120"/>
              </a:rPr>
              <a:t>Investigate economic–environmental trade-offs (e.g., GDP vs. CO₂ emissions)</a:t>
            </a:r>
            <a:endParaRPr lang="en-US" sz="1180" dirty="0"/>
          </a:p>
        </p:txBody>
      </p:sp>
      <p:sp>
        <p:nvSpPr>
          <p:cNvPr id="20" name="Shape 18"/>
          <p:cNvSpPr/>
          <p:nvPr/>
        </p:nvSpPr>
        <p:spPr>
          <a:xfrm>
            <a:off x="548640" y="4581144"/>
            <a:ext cx="329184" cy="329184"/>
          </a:xfrm>
          <a:prstGeom prst="ellipse">
            <a:avLst/>
          </a:prstGeom>
          <a:solidFill>
            <a:srgbClr val="00A896"/>
          </a:solidFill>
          <a:ln/>
        </p:spPr>
        <p:txBody>
          <a:bodyPr/>
          <a:lstStyle/>
          <a:p>
            <a:endParaRPr lang="en-US"/>
          </a:p>
        </p:txBody>
      </p:sp>
      <p:sp>
        <p:nvSpPr>
          <p:cNvPr id="21" name="Text 19"/>
          <p:cNvSpPr/>
          <p:nvPr/>
        </p:nvSpPr>
        <p:spPr>
          <a:xfrm>
            <a:off x="548640" y="4581144"/>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2" name="Text 20"/>
          <p:cNvSpPr/>
          <p:nvPr/>
        </p:nvSpPr>
        <p:spPr>
          <a:xfrm>
            <a:off x="1024128" y="4526280"/>
            <a:ext cx="4937760" cy="640080"/>
          </a:xfrm>
          <a:prstGeom prst="rect">
            <a:avLst/>
          </a:prstGeom>
          <a:noFill/>
          <a:ln/>
        </p:spPr>
        <p:txBody>
          <a:bodyPr wrap="square" lIns="0" tIns="0" rIns="0" bIns="0" rtlCol="0" anchor="t"/>
          <a:lstStyle/>
          <a:p>
            <a:pPr marL="0" indent="0">
              <a:lnSpc>
                <a:spcPct val="102000"/>
              </a:lnSpc>
              <a:buNone/>
            </a:pPr>
            <a:r>
              <a:rPr lang="en-US" sz="1180" dirty="0">
                <a:solidFill>
                  <a:srgbClr val="1F2D2E"/>
                </a:solidFill>
                <a:latin typeface="Calibri" pitchFamily="34" charset="0"/>
                <a:ea typeface="Calibri" pitchFamily="34" charset="-122"/>
                <a:cs typeface="Calibri" pitchFamily="34" charset="-120"/>
              </a:rPr>
              <a:t>Detect outlier countries that defy common development trends</a:t>
            </a:r>
            <a:endParaRPr lang="en-US" sz="1180" dirty="0"/>
          </a:p>
        </p:txBody>
      </p:sp>
      <p:sp>
        <p:nvSpPr>
          <p:cNvPr id="23" name="Shape 21"/>
          <p:cNvSpPr/>
          <p:nvPr/>
        </p:nvSpPr>
        <p:spPr>
          <a:xfrm>
            <a:off x="6172200" y="4581144"/>
            <a:ext cx="329184" cy="329184"/>
          </a:xfrm>
          <a:prstGeom prst="ellipse">
            <a:avLst/>
          </a:prstGeom>
          <a:solidFill>
            <a:srgbClr val="02C39A"/>
          </a:solidFill>
          <a:ln/>
        </p:spPr>
        <p:txBody>
          <a:bodyPr/>
          <a:lstStyle/>
          <a:p>
            <a:endParaRPr lang="en-US"/>
          </a:p>
        </p:txBody>
      </p:sp>
      <p:sp>
        <p:nvSpPr>
          <p:cNvPr id="24" name="Text 22"/>
          <p:cNvSpPr/>
          <p:nvPr/>
        </p:nvSpPr>
        <p:spPr>
          <a:xfrm>
            <a:off x="6172200" y="4581144"/>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5" name="Text 23"/>
          <p:cNvSpPr/>
          <p:nvPr/>
        </p:nvSpPr>
        <p:spPr>
          <a:xfrm>
            <a:off x="6647688" y="4526280"/>
            <a:ext cx="4937760" cy="640080"/>
          </a:xfrm>
          <a:prstGeom prst="rect">
            <a:avLst/>
          </a:prstGeom>
          <a:noFill/>
          <a:ln/>
        </p:spPr>
        <p:txBody>
          <a:bodyPr wrap="square" lIns="0" tIns="0" rIns="0" bIns="0" rtlCol="0" anchor="t"/>
          <a:lstStyle/>
          <a:p>
            <a:pPr marL="0" indent="0">
              <a:lnSpc>
                <a:spcPct val="102000"/>
              </a:lnSpc>
              <a:buNone/>
            </a:pPr>
            <a:r>
              <a:rPr lang="en-US" sz="1180" dirty="0">
                <a:solidFill>
                  <a:srgbClr val="1F2D2E"/>
                </a:solidFill>
                <a:latin typeface="Calibri" pitchFamily="34" charset="0"/>
                <a:ea typeface="Calibri" pitchFamily="34" charset="-122"/>
                <a:cs typeface="Calibri" pitchFamily="34" charset="-120"/>
              </a:rPr>
              <a:t>Build multidimensional livability profiles for selected countries</a:t>
            </a:r>
            <a:endParaRPr lang="en-US" sz="1180" dirty="0"/>
          </a:p>
        </p:txBody>
      </p:sp>
      <p:sp>
        <p:nvSpPr>
          <p:cNvPr id="26" name="Shape 24"/>
          <p:cNvSpPr/>
          <p:nvPr/>
        </p:nvSpPr>
        <p:spPr>
          <a:xfrm>
            <a:off x="548640" y="5340096"/>
            <a:ext cx="329184" cy="329184"/>
          </a:xfrm>
          <a:prstGeom prst="ellipse">
            <a:avLst/>
          </a:prstGeom>
          <a:solidFill>
            <a:srgbClr val="00A896"/>
          </a:solidFill>
          <a:ln/>
        </p:spPr>
        <p:txBody>
          <a:bodyPr/>
          <a:lstStyle/>
          <a:p>
            <a:endParaRPr lang="en-US"/>
          </a:p>
        </p:txBody>
      </p:sp>
      <p:sp>
        <p:nvSpPr>
          <p:cNvPr id="27" name="Text 25"/>
          <p:cNvSpPr/>
          <p:nvPr/>
        </p:nvSpPr>
        <p:spPr>
          <a:xfrm>
            <a:off x="548640" y="53400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8" name="Text 26"/>
          <p:cNvSpPr/>
          <p:nvPr/>
        </p:nvSpPr>
        <p:spPr>
          <a:xfrm>
            <a:off x="1024128" y="5285232"/>
            <a:ext cx="4937760" cy="640080"/>
          </a:xfrm>
          <a:prstGeom prst="rect">
            <a:avLst/>
          </a:prstGeom>
          <a:noFill/>
          <a:ln/>
        </p:spPr>
        <p:txBody>
          <a:bodyPr wrap="square" lIns="0" tIns="0" rIns="0" bIns="0" rtlCol="0" anchor="t"/>
          <a:lstStyle/>
          <a:p>
            <a:pPr marL="0" indent="0">
              <a:lnSpc>
                <a:spcPct val="102000"/>
              </a:lnSpc>
              <a:buNone/>
            </a:pPr>
            <a:r>
              <a:rPr lang="en-US" sz="1180" dirty="0">
                <a:solidFill>
                  <a:srgbClr val="1F2D2E"/>
                </a:solidFill>
                <a:latin typeface="Calibri" pitchFamily="34" charset="0"/>
                <a:ea typeface="Calibri" pitchFamily="34" charset="-122"/>
                <a:cs typeface="Calibri" pitchFamily="34" charset="-120"/>
              </a:rPr>
              <a:t>Construct an optional exploratory livability index for visualization</a:t>
            </a:r>
            <a:endParaRPr lang="en-US" sz="1180" dirty="0"/>
          </a:p>
        </p:txBody>
      </p:sp>
      <p:sp>
        <p:nvSpPr>
          <p:cNvPr id="29" name="Shape 27"/>
          <p:cNvSpPr/>
          <p:nvPr/>
        </p:nvSpPr>
        <p:spPr>
          <a:xfrm>
            <a:off x="6172200" y="5340096"/>
            <a:ext cx="329184" cy="329184"/>
          </a:xfrm>
          <a:prstGeom prst="ellipse">
            <a:avLst/>
          </a:prstGeom>
          <a:solidFill>
            <a:srgbClr val="02C39A"/>
          </a:solidFill>
          <a:ln/>
        </p:spPr>
        <p:txBody>
          <a:bodyPr/>
          <a:lstStyle/>
          <a:p>
            <a:endParaRPr lang="en-US"/>
          </a:p>
        </p:txBody>
      </p:sp>
      <p:sp>
        <p:nvSpPr>
          <p:cNvPr id="30" name="Text 28"/>
          <p:cNvSpPr/>
          <p:nvPr/>
        </p:nvSpPr>
        <p:spPr>
          <a:xfrm>
            <a:off x="6172200" y="5340096"/>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31" name="Text 29"/>
          <p:cNvSpPr/>
          <p:nvPr/>
        </p:nvSpPr>
        <p:spPr>
          <a:xfrm>
            <a:off x="6647688" y="5285232"/>
            <a:ext cx="4937760" cy="640080"/>
          </a:xfrm>
          <a:prstGeom prst="rect">
            <a:avLst/>
          </a:prstGeom>
          <a:noFill/>
          <a:ln/>
        </p:spPr>
        <p:txBody>
          <a:bodyPr wrap="square" lIns="0" tIns="0" rIns="0" bIns="0" rtlCol="0" anchor="t"/>
          <a:lstStyle/>
          <a:p>
            <a:pPr marL="0" indent="0">
              <a:lnSpc>
                <a:spcPct val="102000"/>
              </a:lnSpc>
              <a:buNone/>
            </a:pPr>
            <a:r>
              <a:rPr lang="en-US" sz="1180" dirty="0">
                <a:solidFill>
                  <a:srgbClr val="1F2D2E"/>
                </a:solidFill>
                <a:latin typeface="Calibri" pitchFamily="34" charset="0"/>
                <a:ea typeface="Calibri" pitchFamily="34" charset="-122"/>
                <a:cs typeface="Calibri" pitchFamily="34" charset="-120"/>
              </a:rPr>
              <a:t>Draw meaningful, real-world insights to answer the central research question</a:t>
            </a:r>
            <a:endParaRPr lang="en-US" sz="118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33" name="Text 31"/>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03</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Abstract</a:t>
            </a:r>
            <a:endParaRPr lang="en-US" sz="3000" dirty="0"/>
          </a:p>
        </p:txBody>
      </p:sp>
      <p:sp>
        <p:nvSpPr>
          <p:cNvPr id="4" name="Shape 2"/>
          <p:cNvSpPr/>
          <p:nvPr/>
        </p:nvSpPr>
        <p:spPr>
          <a:xfrm>
            <a:off x="548640" y="1463040"/>
            <a:ext cx="7315200" cy="4572000"/>
          </a:xfrm>
          <a:prstGeom prst="roundRect">
            <a:avLst>
              <a:gd name="adj" fmla="val 1600"/>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5" name="Text 3"/>
          <p:cNvSpPr/>
          <p:nvPr/>
        </p:nvSpPr>
        <p:spPr>
          <a:xfrm>
            <a:off x="868680" y="1737360"/>
            <a:ext cx="6675120" cy="4023360"/>
          </a:xfrm>
          <a:prstGeom prst="rect">
            <a:avLst/>
          </a:prstGeom>
          <a:noFill/>
          <a:ln/>
        </p:spPr>
        <p:txBody>
          <a:bodyPr wrap="square" lIns="0" tIns="0" rIns="0" bIns="0" rtlCol="0" anchor="t"/>
          <a:lstStyle/>
          <a:p>
            <a:pPr marL="0" indent="0" algn="l">
              <a:lnSpc>
                <a:spcPct val="122000"/>
              </a:lnSpc>
              <a:buNone/>
            </a:pPr>
            <a:r>
              <a:rPr lang="en-US" sz="1250" dirty="0">
                <a:solidFill>
                  <a:srgbClr val="1F2D2E"/>
                </a:solidFill>
                <a:latin typeface="Calibri" pitchFamily="34" charset="0"/>
                <a:ea typeface="Calibri" pitchFamily="34" charset="-122"/>
                <a:cs typeface="Calibri" pitchFamily="34" charset="-120"/>
              </a:rPr>
              <a:t>Gross Domestic Product (GDP) is widely used to measure a nation's progress, yet it does not fully capture the quality of life experienced by its citizens. A country may show strong economic growth while still facing challenges such as pollution, unemployment, poor healthcare access, or educational inequality. This project aims to use Exploratory Data Analysis (EDA) to investigate whether economic prosperity alone is sufficient to make a country livable, or whether health, social and environmental dimensions play an equally important role. Publicly available datasets from sources such as the World Bank, WHO, Our World in Data, the United Nations and the World Happiness Report will be integrated using Country and Year as common fields. The analysis will examine univariate, bivariate and multivariate relationships among economic, health, social and environmental indicators, with particular focus on economic–environmental trade-offs and outlier countries that deviate from expected patterns. The study is expected to identify meaningful associations between prosperity and well-being, and to produce multidimensional country livability profiles along with an optional exploratory livability index, contributing a broader, evidence-based perspective on what truly makes a country livable.</a:t>
            </a:r>
            <a:endParaRPr lang="en-US" sz="1250" dirty="0"/>
          </a:p>
        </p:txBody>
      </p:sp>
      <p:sp>
        <p:nvSpPr>
          <p:cNvPr id="6" name="Text 4"/>
          <p:cNvSpPr/>
          <p:nvPr/>
        </p:nvSpPr>
        <p:spPr>
          <a:xfrm>
            <a:off x="8183880" y="1463040"/>
            <a:ext cx="3474720" cy="320040"/>
          </a:xfrm>
          <a:prstGeom prst="rect">
            <a:avLst/>
          </a:prstGeom>
          <a:noFill/>
          <a:ln/>
        </p:spPr>
        <p:txBody>
          <a:bodyPr wrap="square" lIns="0" tIns="0" rIns="0" bIns="0"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Keywords</a:t>
            </a:r>
            <a:endParaRPr lang="en-US" sz="1600" dirty="0"/>
          </a:p>
        </p:txBody>
      </p:sp>
      <p:sp>
        <p:nvSpPr>
          <p:cNvPr id="7" name="Shape 5"/>
          <p:cNvSpPr/>
          <p:nvPr/>
        </p:nvSpPr>
        <p:spPr>
          <a:xfrm>
            <a:off x="8183880" y="1874520"/>
            <a:ext cx="608076" cy="402336"/>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8" name="Text 6"/>
          <p:cNvSpPr/>
          <p:nvPr/>
        </p:nvSpPr>
        <p:spPr>
          <a:xfrm>
            <a:off x="8183880" y="1874520"/>
            <a:ext cx="608076" cy="402336"/>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EDA</a:t>
            </a:r>
            <a:endParaRPr lang="en-US" sz="1100" dirty="0"/>
          </a:p>
        </p:txBody>
      </p:sp>
      <p:sp>
        <p:nvSpPr>
          <p:cNvPr id="9" name="Shape 7"/>
          <p:cNvSpPr/>
          <p:nvPr/>
        </p:nvSpPr>
        <p:spPr>
          <a:xfrm>
            <a:off x="8183880" y="2441448"/>
            <a:ext cx="1280160" cy="402336"/>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10" name="Text 8"/>
          <p:cNvSpPr/>
          <p:nvPr/>
        </p:nvSpPr>
        <p:spPr>
          <a:xfrm>
            <a:off x="8183880" y="2441448"/>
            <a:ext cx="1280160" cy="402336"/>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Livability</a:t>
            </a:r>
            <a:endParaRPr lang="en-US" sz="1100" dirty="0"/>
          </a:p>
        </p:txBody>
      </p:sp>
      <p:sp>
        <p:nvSpPr>
          <p:cNvPr id="11" name="Shape 9"/>
          <p:cNvSpPr/>
          <p:nvPr/>
        </p:nvSpPr>
        <p:spPr>
          <a:xfrm>
            <a:off x="8183880" y="3008376"/>
            <a:ext cx="608076" cy="402336"/>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12" name="Text 10"/>
          <p:cNvSpPr/>
          <p:nvPr/>
        </p:nvSpPr>
        <p:spPr>
          <a:xfrm>
            <a:off x="8183880" y="3008376"/>
            <a:ext cx="608076" cy="402336"/>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GDP</a:t>
            </a:r>
            <a:endParaRPr lang="en-US" sz="1100" dirty="0"/>
          </a:p>
        </p:txBody>
      </p:sp>
      <p:sp>
        <p:nvSpPr>
          <p:cNvPr id="13" name="Shape 11"/>
          <p:cNvSpPr/>
          <p:nvPr/>
        </p:nvSpPr>
        <p:spPr>
          <a:xfrm>
            <a:off x="8183880" y="3575304"/>
            <a:ext cx="1760220" cy="402336"/>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14" name="Text 12"/>
          <p:cNvSpPr/>
          <p:nvPr/>
        </p:nvSpPr>
        <p:spPr>
          <a:xfrm>
            <a:off x="8183880" y="3575304"/>
            <a:ext cx="1760220" cy="402336"/>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Quality of Life</a:t>
            </a:r>
            <a:endParaRPr lang="en-US" sz="1100" dirty="0"/>
          </a:p>
        </p:txBody>
      </p:sp>
      <p:sp>
        <p:nvSpPr>
          <p:cNvPr id="15" name="Shape 13"/>
          <p:cNvSpPr/>
          <p:nvPr/>
        </p:nvSpPr>
        <p:spPr>
          <a:xfrm>
            <a:off x="8183880" y="4142232"/>
            <a:ext cx="1376172" cy="402336"/>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16" name="Text 14"/>
          <p:cNvSpPr/>
          <p:nvPr/>
        </p:nvSpPr>
        <p:spPr>
          <a:xfrm>
            <a:off x="8183880" y="4142232"/>
            <a:ext cx="1376172" cy="402336"/>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Correlation</a:t>
            </a:r>
            <a:endParaRPr lang="en-US" sz="1100" dirty="0"/>
          </a:p>
        </p:txBody>
      </p:sp>
      <p:sp>
        <p:nvSpPr>
          <p:cNvPr id="17" name="Shape 15"/>
          <p:cNvSpPr/>
          <p:nvPr/>
        </p:nvSpPr>
        <p:spPr>
          <a:xfrm>
            <a:off x="8183880" y="4709160"/>
            <a:ext cx="1280160" cy="402336"/>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18" name="Text 16"/>
          <p:cNvSpPr/>
          <p:nvPr/>
        </p:nvSpPr>
        <p:spPr>
          <a:xfrm>
            <a:off x="8183880" y="4709160"/>
            <a:ext cx="1280160" cy="402336"/>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Trade-offs</a:t>
            </a:r>
            <a:endParaRPr lang="en-US" sz="1100" dirty="0"/>
          </a:p>
        </p:txBody>
      </p:sp>
      <p:sp>
        <p:nvSpPr>
          <p:cNvPr id="19" name="Shape 17"/>
          <p:cNvSpPr/>
          <p:nvPr/>
        </p:nvSpPr>
        <p:spPr>
          <a:xfrm>
            <a:off x="8183880" y="5276088"/>
            <a:ext cx="1088136" cy="402336"/>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20" name="Text 18"/>
          <p:cNvSpPr/>
          <p:nvPr/>
        </p:nvSpPr>
        <p:spPr>
          <a:xfrm>
            <a:off x="8183880" y="5276088"/>
            <a:ext cx="1088136" cy="402336"/>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Outliers</a:t>
            </a:r>
            <a:endParaRPr lang="en-US" sz="1100" dirty="0"/>
          </a:p>
        </p:txBody>
      </p:sp>
      <p:sp>
        <p:nvSpPr>
          <p:cNvPr id="21" name="Text 19"/>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22" name="Text 20"/>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04</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Existing System</a:t>
            </a:r>
            <a:endParaRPr lang="en-US" sz="3000" dirty="0"/>
          </a:p>
        </p:txBody>
      </p:sp>
      <p:sp>
        <p:nvSpPr>
          <p:cNvPr id="4" name="Text 2"/>
          <p:cNvSpPr/>
          <p:nvPr/>
        </p:nvSpPr>
        <p:spPr>
          <a:xfrm>
            <a:off x="548640" y="1417320"/>
            <a:ext cx="10972800" cy="320040"/>
          </a:xfrm>
          <a:prstGeom prst="rect">
            <a:avLst/>
          </a:prstGeom>
          <a:noFill/>
          <a:ln/>
        </p:spPr>
        <p:txBody>
          <a:bodyPr wrap="square" lIns="0" tIns="0" rIns="0" bIns="0" rtlCol="0" anchor="ctr"/>
          <a:lstStyle/>
          <a:p>
            <a:pPr marL="0" indent="0">
              <a:buNone/>
            </a:pPr>
            <a:r>
              <a:rPr lang="en-US" sz="1300" i="1" dirty="0">
                <a:solidFill>
                  <a:srgbClr val="5B6E70"/>
                </a:solidFill>
                <a:latin typeface="Calibri" pitchFamily="34" charset="0"/>
                <a:ea typeface="Calibri" pitchFamily="34" charset="-122"/>
                <a:cs typeface="Calibri" pitchFamily="34" charset="-120"/>
              </a:rPr>
              <a:t>Many conventional country comparisons rely on the following approach:</a:t>
            </a:r>
            <a:endParaRPr lang="en-US" sz="1300" dirty="0"/>
          </a:p>
        </p:txBody>
      </p:sp>
      <p:sp>
        <p:nvSpPr>
          <p:cNvPr id="5" name="Shape 3"/>
          <p:cNvSpPr/>
          <p:nvPr/>
        </p:nvSpPr>
        <p:spPr>
          <a:xfrm>
            <a:off x="548640" y="1874520"/>
            <a:ext cx="3566160" cy="1417320"/>
          </a:xfrm>
          <a:prstGeom prst="roundRect">
            <a:avLst>
              <a:gd name="adj" fmla="val 516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6" name="Shape 4"/>
          <p:cNvSpPr/>
          <p:nvPr/>
        </p:nvSpPr>
        <p:spPr>
          <a:xfrm>
            <a:off x="749808" y="2075688"/>
            <a:ext cx="365760" cy="365760"/>
          </a:xfrm>
          <a:prstGeom prst="ellipse">
            <a:avLst/>
          </a:prstGeom>
          <a:solidFill>
            <a:srgbClr val="028090"/>
          </a:solidFill>
          <a:ln/>
        </p:spPr>
        <p:txBody>
          <a:bodyPr/>
          <a:lstStyle/>
          <a:p>
            <a:endParaRPr lang="en-US"/>
          </a:p>
        </p:txBody>
      </p:sp>
      <p:sp>
        <p:nvSpPr>
          <p:cNvPr id="7" name="Text 5"/>
          <p:cNvSpPr/>
          <p:nvPr/>
        </p:nvSpPr>
        <p:spPr>
          <a:xfrm>
            <a:off x="749808" y="20756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749808" y="2532888"/>
            <a:ext cx="3163824"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Heavy reliance on GDP</a:t>
            </a:r>
            <a:endParaRPr lang="en-US" sz="1250" dirty="0"/>
          </a:p>
        </p:txBody>
      </p:sp>
      <p:sp>
        <p:nvSpPr>
          <p:cNvPr id="9" name="Text 7"/>
          <p:cNvSpPr/>
          <p:nvPr/>
        </p:nvSpPr>
        <p:spPr>
          <a:xfrm>
            <a:off x="749808" y="2788920"/>
            <a:ext cx="3163824" cy="457200"/>
          </a:xfrm>
          <a:prstGeom prst="rect">
            <a:avLst/>
          </a:prstGeom>
          <a:noFill/>
          <a:ln/>
        </p:spPr>
        <p:txBody>
          <a:bodyPr wrap="square" lIns="0" tIns="0" rIns="0" bIns="0" rtlCol="0" anchor="ctr"/>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GDP per capita is often treated as the primary — sometimes only — measure of a country's progress.</a:t>
            </a:r>
            <a:endParaRPr lang="en-US" sz="1000" dirty="0"/>
          </a:p>
        </p:txBody>
      </p:sp>
      <p:sp>
        <p:nvSpPr>
          <p:cNvPr id="10" name="Shape 8"/>
          <p:cNvSpPr/>
          <p:nvPr/>
        </p:nvSpPr>
        <p:spPr>
          <a:xfrm>
            <a:off x="4297680" y="1874520"/>
            <a:ext cx="3566160" cy="1417320"/>
          </a:xfrm>
          <a:prstGeom prst="roundRect">
            <a:avLst>
              <a:gd name="adj" fmla="val 516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11" name="Shape 9"/>
          <p:cNvSpPr/>
          <p:nvPr/>
        </p:nvSpPr>
        <p:spPr>
          <a:xfrm>
            <a:off x="4498848" y="2075688"/>
            <a:ext cx="365760" cy="365760"/>
          </a:xfrm>
          <a:prstGeom prst="ellipse">
            <a:avLst/>
          </a:prstGeom>
          <a:solidFill>
            <a:srgbClr val="028090"/>
          </a:solidFill>
          <a:ln/>
        </p:spPr>
        <p:txBody>
          <a:bodyPr/>
          <a:lstStyle/>
          <a:p>
            <a:endParaRPr lang="en-US"/>
          </a:p>
        </p:txBody>
      </p:sp>
      <p:sp>
        <p:nvSpPr>
          <p:cNvPr id="12" name="Text 10"/>
          <p:cNvSpPr/>
          <p:nvPr/>
        </p:nvSpPr>
        <p:spPr>
          <a:xfrm>
            <a:off x="4498848" y="20756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4498848" y="2532888"/>
            <a:ext cx="3163824"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Single-indicator rankings</a:t>
            </a:r>
            <a:endParaRPr lang="en-US" sz="1250" dirty="0"/>
          </a:p>
        </p:txBody>
      </p:sp>
      <p:sp>
        <p:nvSpPr>
          <p:cNvPr id="14" name="Text 12"/>
          <p:cNvSpPr/>
          <p:nvPr/>
        </p:nvSpPr>
        <p:spPr>
          <a:xfrm>
            <a:off x="4498848" y="2788920"/>
            <a:ext cx="3163824" cy="457200"/>
          </a:xfrm>
          <a:prstGeom prst="rect">
            <a:avLst/>
          </a:prstGeom>
          <a:noFill/>
          <a:ln/>
        </p:spPr>
        <p:txBody>
          <a:bodyPr wrap="square" lIns="0" tIns="0" rIns="0" bIns="0" rtlCol="0" anchor="ctr"/>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Countries are frequently ranked using one indicator at a time rather than combined dimensions.</a:t>
            </a:r>
            <a:endParaRPr lang="en-US" sz="1000" dirty="0"/>
          </a:p>
        </p:txBody>
      </p:sp>
      <p:sp>
        <p:nvSpPr>
          <p:cNvPr id="15" name="Shape 13"/>
          <p:cNvSpPr/>
          <p:nvPr/>
        </p:nvSpPr>
        <p:spPr>
          <a:xfrm>
            <a:off x="8046720" y="1874520"/>
            <a:ext cx="3566160" cy="1417320"/>
          </a:xfrm>
          <a:prstGeom prst="roundRect">
            <a:avLst>
              <a:gd name="adj" fmla="val 516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16" name="Shape 14"/>
          <p:cNvSpPr/>
          <p:nvPr/>
        </p:nvSpPr>
        <p:spPr>
          <a:xfrm>
            <a:off x="8247888" y="2075688"/>
            <a:ext cx="365760" cy="365760"/>
          </a:xfrm>
          <a:prstGeom prst="ellipse">
            <a:avLst/>
          </a:prstGeom>
          <a:solidFill>
            <a:srgbClr val="028090"/>
          </a:solidFill>
          <a:ln/>
        </p:spPr>
        <p:txBody>
          <a:bodyPr/>
          <a:lstStyle/>
          <a:p>
            <a:endParaRPr lang="en-US"/>
          </a:p>
        </p:txBody>
      </p:sp>
      <p:sp>
        <p:nvSpPr>
          <p:cNvPr id="17" name="Text 15"/>
          <p:cNvSpPr/>
          <p:nvPr/>
        </p:nvSpPr>
        <p:spPr>
          <a:xfrm>
            <a:off x="8247888" y="20756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8247888" y="2532888"/>
            <a:ext cx="3163824"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Indicators studied in isolation</a:t>
            </a:r>
            <a:endParaRPr lang="en-US" sz="1250" dirty="0"/>
          </a:p>
        </p:txBody>
      </p:sp>
      <p:sp>
        <p:nvSpPr>
          <p:cNvPr id="19" name="Text 17"/>
          <p:cNvSpPr/>
          <p:nvPr/>
        </p:nvSpPr>
        <p:spPr>
          <a:xfrm>
            <a:off x="8247888" y="2788920"/>
            <a:ext cx="3163824" cy="457200"/>
          </a:xfrm>
          <a:prstGeom prst="rect">
            <a:avLst/>
          </a:prstGeom>
          <a:noFill/>
          <a:ln/>
        </p:spPr>
        <p:txBody>
          <a:bodyPr wrap="square" lIns="0" tIns="0" rIns="0" bIns="0" rtlCol="0" anchor="ctr"/>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Economic, health, social and environmental data are commonly analyzed separately, not together.</a:t>
            </a:r>
            <a:endParaRPr lang="en-US" sz="1000" dirty="0"/>
          </a:p>
        </p:txBody>
      </p:sp>
      <p:sp>
        <p:nvSpPr>
          <p:cNvPr id="20" name="Shape 18"/>
          <p:cNvSpPr/>
          <p:nvPr/>
        </p:nvSpPr>
        <p:spPr>
          <a:xfrm>
            <a:off x="548640" y="3474720"/>
            <a:ext cx="3566160" cy="1417320"/>
          </a:xfrm>
          <a:prstGeom prst="roundRect">
            <a:avLst>
              <a:gd name="adj" fmla="val 516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21" name="Shape 19"/>
          <p:cNvSpPr/>
          <p:nvPr/>
        </p:nvSpPr>
        <p:spPr>
          <a:xfrm>
            <a:off x="749808" y="3675888"/>
            <a:ext cx="365760" cy="365760"/>
          </a:xfrm>
          <a:prstGeom prst="ellipse">
            <a:avLst/>
          </a:prstGeom>
          <a:solidFill>
            <a:srgbClr val="028090"/>
          </a:solidFill>
          <a:ln/>
        </p:spPr>
        <p:txBody>
          <a:bodyPr/>
          <a:lstStyle/>
          <a:p>
            <a:endParaRPr lang="en-US"/>
          </a:p>
        </p:txBody>
      </p:sp>
      <p:sp>
        <p:nvSpPr>
          <p:cNvPr id="22" name="Text 20"/>
          <p:cNvSpPr/>
          <p:nvPr/>
        </p:nvSpPr>
        <p:spPr>
          <a:xfrm>
            <a:off x="749808" y="36758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p:nvPr/>
        </p:nvSpPr>
        <p:spPr>
          <a:xfrm>
            <a:off x="749808" y="4133088"/>
            <a:ext cx="3163824"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Limited multidimensional view</a:t>
            </a:r>
            <a:endParaRPr lang="en-US" sz="1250" dirty="0"/>
          </a:p>
        </p:txBody>
      </p:sp>
      <p:sp>
        <p:nvSpPr>
          <p:cNvPr id="24" name="Text 22"/>
          <p:cNvSpPr/>
          <p:nvPr/>
        </p:nvSpPr>
        <p:spPr>
          <a:xfrm>
            <a:off x="749808" y="4389120"/>
            <a:ext cx="3163824" cy="457200"/>
          </a:xfrm>
          <a:prstGeom prst="rect">
            <a:avLst/>
          </a:prstGeom>
          <a:noFill/>
          <a:ln/>
        </p:spPr>
        <p:txBody>
          <a:bodyPr wrap="square" lIns="0" tIns="0" rIns="0" bIns="0" rtlCol="0" anchor="ctr"/>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Few conventional comparisons integrate all four dimensions of livability into one analysis.</a:t>
            </a:r>
            <a:endParaRPr lang="en-US" sz="1000" dirty="0"/>
          </a:p>
        </p:txBody>
      </p:sp>
      <p:sp>
        <p:nvSpPr>
          <p:cNvPr id="25" name="Shape 23"/>
          <p:cNvSpPr/>
          <p:nvPr/>
        </p:nvSpPr>
        <p:spPr>
          <a:xfrm>
            <a:off x="4297680" y="3474720"/>
            <a:ext cx="3566160" cy="1417320"/>
          </a:xfrm>
          <a:prstGeom prst="roundRect">
            <a:avLst>
              <a:gd name="adj" fmla="val 516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26" name="Shape 24"/>
          <p:cNvSpPr/>
          <p:nvPr/>
        </p:nvSpPr>
        <p:spPr>
          <a:xfrm>
            <a:off x="4498848" y="3675888"/>
            <a:ext cx="365760" cy="365760"/>
          </a:xfrm>
          <a:prstGeom prst="ellipse">
            <a:avLst/>
          </a:prstGeom>
          <a:solidFill>
            <a:srgbClr val="028090"/>
          </a:solidFill>
          <a:ln/>
        </p:spPr>
        <p:txBody>
          <a:bodyPr/>
          <a:lstStyle/>
          <a:p>
            <a:endParaRPr lang="en-US"/>
          </a:p>
        </p:txBody>
      </p:sp>
      <p:sp>
        <p:nvSpPr>
          <p:cNvPr id="27" name="Text 25"/>
          <p:cNvSpPr/>
          <p:nvPr/>
        </p:nvSpPr>
        <p:spPr>
          <a:xfrm>
            <a:off x="4498848" y="36758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8" name="Text 26"/>
          <p:cNvSpPr/>
          <p:nvPr/>
        </p:nvSpPr>
        <p:spPr>
          <a:xfrm>
            <a:off x="4498848" y="4133088"/>
            <a:ext cx="3163824"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Outliers often overlooked</a:t>
            </a:r>
            <a:endParaRPr lang="en-US" sz="1250" dirty="0"/>
          </a:p>
        </p:txBody>
      </p:sp>
      <p:sp>
        <p:nvSpPr>
          <p:cNvPr id="29" name="Text 27"/>
          <p:cNvSpPr/>
          <p:nvPr/>
        </p:nvSpPr>
        <p:spPr>
          <a:xfrm>
            <a:off x="4498848" y="4389120"/>
            <a:ext cx="3163824" cy="457200"/>
          </a:xfrm>
          <a:prstGeom prst="rect">
            <a:avLst/>
          </a:prstGeom>
          <a:noFill/>
          <a:ln/>
        </p:spPr>
        <p:txBody>
          <a:bodyPr wrap="square" lIns="0" tIns="0" rIns="0" bIns="0" rtlCol="0" anchor="ctr"/>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Countries that break common trends receive little dedicated attention.</a:t>
            </a:r>
            <a:endParaRPr lang="en-US" sz="1000" dirty="0"/>
          </a:p>
        </p:txBody>
      </p:sp>
      <p:sp>
        <p:nvSpPr>
          <p:cNvPr id="30" name="Shape 28"/>
          <p:cNvSpPr/>
          <p:nvPr/>
        </p:nvSpPr>
        <p:spPr>
          <a:xfrm>
            <a:off x="8046720" y="3474720"/>
            <a:ext cx="3566160" cy="1417320"/>
          </a:xfrm>
          <a:prstGeom prst="roundRect">
            <a:avLst>
              <a:gd name="adj" fmla="val 516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31" name="Shape 29"/>
          <p:cNvSpPr/>
          <p:nvPr/>
        </p:nvSpPr>
        <p:spPr>
          <a:xfrm>
            <a:off x="8247888" y="3675888"/>
            <a:ext cx="365760" cy="365760"/>
          </a:xfrm>
          <a:prstGeom prst="ellipse">
            <a:avLst/>
          </a:prstGeom>
          <a:solidFill>
            <a:srgbClr val="028090"/>
          </a:solidFill>
          <a:ln/>
        </p:spPr>
        <p:txBody>
          <a:bodyPr/>
          <a:lstStyle/>
          <a:p>
            <a:endParaRPr lang="en-US"/>
          </a:p>
        </p:txBody>
      </p:sp>
      <p:sp>
        <p:nvSpPr>
          <p:cNvPr id="32" name="Text 30"/>
          <p:cNvSpPr/>
          <p:nvPr/>
        </p:nvSpPr>
        <p:spPr>
          <a:xfrm>
            <a:off x="8247888" y="36758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3" name="Text 31"/>
          <p:cNvSpPr/>
          <p:nvPr/>
        </p:nvSpPr>
        <p:spPr>
          <a:xfrm>
            <a:off x="8247888" y="4133088"/>
            <a:ext cx="3163824"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Trade-offs rarely visualized</a:t>
            </a:r>
            <a:endParaRPr lang="en-US" sz="1250" dirty="0"/>
          </a:p>
        </p:txBody>
      </p:sp>
      <p:sp>
        <p:nvSpPr>
          <p:cNvPr id="34" name="Text 32"/>
          <p:cNvSpPr/>
          <p:nvPr/>
        </p:nvSpPr>
        <p:spPr>
          <a:xfrm>
            <a:off x="8247888" y="4389120"/>
            <a:ext cx="3163824" cy="457200"/>
          </a:xfrm>
          <a:prstGeom prst="rect">
            <a:avLst/>
          </a:prstGeom>
          <a:noFill/>
          <a:ln/>
        </p:spPr>
        <p:txBody>
          <a:bodyPr wrap="square" lIns="0" tIns="0" rIns="0" bIns="0" rtlCol="0" anchor="ctr"/>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The economic–environmental trade-off is seldom explored through visual, exploratory analysis.</a:t>
            </a:r>
            <a:endParaRPr lang="en-US" sz="1000" dirty="0"/>
          </a:p>
        </p:txBody>
      </p:sp>
      <p:sp>
        <p:nvSpPr>
          <p:cNvPr id="35" name="Shape 33"/>
          <p:cNvSpPr/>
          <p:nvPr/>
        </p:nvSpPr>
        <p:spPr>
          <a:xfrm>
            <a:off x="548640" y="5257800"/>
            <a:ext cx="11064240" cy="914400"/>
          </a:xfrm>
          <a:prstGeom prst="roundRect">
            <a:avLst>
              <a:gd name="adj" fmla="val 8000"/>
            </a:avLst>
          </a:prstGeom>
          <a:solidFill>
            <a:srgbClr val="0E4B57"/>
          </a:solidFill>
          <a:ln/>
        </p:spPr>
        <p:txBody>
          <a:bodyPr/>
          <a:lstStyle/>
          <a:p>
            <a:endParaRPr lang="en-US"/>
          </a:p>
        </p:txBody>
      </p:sp>
      <p:sp>
        <p:nvSpPr>
          <p:cNvPr id="36" name="Text 34"/>
          <p:cNvSpPr/>
          <p:nvPr/>
        </p:nvSpPr>
        <p:spPr>
          <a:xfrm>
            <a:off x="868680" y="5257800"/>
            <a:ext cx="10424160" cy="914400"/>
          </a:xfrm>
          <a:prstGeom prst="rect">
            <a:avLst/>
          </a:prstGeom>
          <a:noFill/>
          <a:ln/>
        </p:spPr>
        <p:txBody>
          <a:bodyPr wrap="square" lIns="0" tIns="0" rIns="0" bIns="0" rtlCol="0" anchor="ctr"/>
          <a:lstStyle/>
          <a:p>
            <a:pPr marL="0" indent="0">
              <a:lnSpc>
                <a:spcPct val="110000"/>
              </a:lnSpc>
              <a:buNone/>
            </a:pPr>
            <a:r>
              <a:rPr lang="en-US" sz="1300" b="1" dirty="0">
                <a:solidFill>
                  <a:srgbClr val="02C39A"/>
                </a:solidFill>
                <a:latin typeface="Calibri" pitchFamily="34" charset="0"/>
                <a:ea typeface="Calibri" pitchFamily="34" charset="-122"/>
                <a:cs typeface="Calibri" pitchFamily="34" charset="-120"/>
              </a:rPr>
              <a:t>The Gap:  </a:t>
            </a:r>
            <a:r>
              <a:rPr lang="en-US" sz="1300" dirty="0">
                <a:solidFill>
                  <a:srgbClr val="FFFFFF"/>
                </a:solidFill>
                <a:latin typeface="Calibri" pitchFamily="34" charset="0"/>
                <a:ea typeface="Calibri" pitchFamily="34" charset="-122"/>
                <a:cs typeface="Calibri" pitchFamily="34" charset="-120"/>
              </a:rPr>
              <a:t>Existing approaches often ask </a:t>
            </a:r>
            <a:r>
              <a:rPr lang="en-US" sz="1300" i="1" dirty="0">
                <a:solidFill>
                  <a:srgbClr val="02C39A"/>
                </a:solidFill>
                <a:latin typeface="Calibri" pitchFamily="34" charset="0"/>
                <a:ea typeface="Calibri" pitchFamily="34" charset="-122"/>
                <a:cs typeface="Calibri" pitchFamily="34" charset="-120"/>
              </a:rPr>
              <a:t>“Which country is richer?” </a:t>
            </a:r>
            <a:r>
              <a:rPr lang="en-US" sz="1300" dirty="0">
                <a:solidFill>
                  <a:srgbClr val="FFFFFF"/>
                </a:solidFill>
                <a:latin typeface="Calibri" pitchFamily="34" charset="0"/>
                <a:ea typeface="Calibri" pitchFamily="34" charset="-122"/>
                <a:cs typeface="Calibri" pitchFamily="34" charset="-120"/>
              </a:rPr>
              <a:t>— our project instead asks </a:t>
            </a:r>
            <a:r>
              <a:rPr lang="en-US" sz="1300" i="1" dirty="0">
                <a:solidFill>
                  <a:srgbClr val="02C39A"/>
                </a:solidFill>
                <a:latin typeface="Calibri" pitchFamily="34" charset="0"/>
                <a:ea typeface="Calibri" pitchFamily="34" charset="-122"/>
                <a:cs typeface="Calibri" pitchFamily="34" charset="-120"/>
              </a:rPr>
              <a:t>“What characteristics are associated with better livability?”</a:t>
            </a:r>
            <a:endParaRPr lang="en-US" sz="1300" dirty="0"/>
          </a:p>
        </p:txBody>
      </p:sp>
      <p:sp>
        <p:nvSpPr>
          <p:cNvPr id="37" name="Text 35"/>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38" name="Text 36"/>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05</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Proposed System</a:t>
            </a:r>
            <a:endParaRPr lang="en-US" sz="3000" dirty="0"/>
          </a:p>
        </p:txBody>
      </p:sp>
      <p:sp>
        <p:nvSpPr>
          <p:cNvPr id="4" name="Text 2"/>
          <p:cNvSpPr/>
          <p:nvPr/>
        </p:nvSpPr>
        <p:spPr>
          <a:xfrm>
            <a:off x="548640" y="1371600"/>
            <a:ext cx="10972800" cy="320040"/>
          </a:xfrm>
          <a:prstGeom prst="rect">
            <a:avLst/>
          </a:prstGeom>
          <a:noFill/>
          <a:ln/>
        </p:spPr>
        <p:txBody>
          <a:bodyPr wrap="square" lIns="0" tIns="0" rIns="0" bIns="0" rtlCol="0" anchor="ctr"/>
          <a:lstStyle/>
          <a:p>
            <a:pPr marL="0" indent="0">
              <a:buNone/>
            </a:pPr>
            <a:r>
              <a:rPr lang="en-US" sz="1300" i="1" dirty="0">
                <a:solidFill>
                  <a:srgbClr val="5B6E70"/>
                </a:solidFill>
                <a:latin typeface="Calibri" pitchFamily="34" charset="0"/>
                <a:ea typeface="Calibri" pitchFamily="34" charset="-122"/>
                <a:cs typeface="Calibri" pitchFamily="34" charset="-120"/>
              </a:rPr>
              <a:t>An EDA-driven pipeline focused on interpretability and discovery of patterns — not prediction.</a:t>
            </a:r>
            <a:endParaRPr lang="en-US" sz="1300" dirty="0"/>
          </a:p>
        </p:txBody>
      </p:sp>
      <p:sp>
        <p:nvSpPr>
          <p:cNvPr id="5" name="Shape 3"/>
          <p:cNvSpPr/>
          <p:nvPr/>
        </p:nvSpPr>
        <p:spPr>
          <a:xfrm>
            <a:off x="851764" y="1965960"/>
            <a:ext cx="1965960" cy="868680"/>
          </a:xfrm>
          <a:prstGeom prst="roundRect">
            <a:avLst>
              <a:gd name="adj" fmla="val 9474"/>
            </a:avLst>
          </a:prstGeom>
          <a:solidFill>
            <a:srgbClr val="028090"/>
          </a:solidFill>
          <a:ln/>
        </p:spPr>
        <p:txBody>
          <a:bodyPr/>
          <a:lstStyle/>
          <a:p>
            <a:endParaRPr lang="en-US"/>
          </a:p>
        </p:txBody>
      </p:sp>
      <p:sp>
        <p:nvSpPr>
          <p:cNvPr id="6" name="Text 4"/>
          <p:cNvSpPr/>
          <p:nvPr/>
        </p:nvSpPr>
        <p:spPr>
          <a:xfrm>
            <a:off x="851764" y="196596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Collection</a:t>
            </a:r>
            <a:endParaRPr lang="en-US" sz="1100" dirty="0"/>
          </a:p>
        </p:txBody>
      </p:sp>
      <p:sp>
        <p:nvSpPr>
          <p:cNvPr id="7" name="Text 5"/>
          <p:cNvSpPr/>
          <p:nvPr/>
        </p:nvSpPr>
        <p:spPr>
          <a:xfrm>
            <a:off x="2817724" y="2130552"/>
            <a:ext cx="164592" cy="548640"/>
          </a:xfrm>
          <a:prstGeom prst="rect">
            <a:avLst/>
          </a:prstGeom>
          <a:noFill/>
          <a:ln/>
        </p:spPr>
        <p:txBody>
          <a:bodyPr wrap="square" lIns="0" tIns="0" rIns="0" bIns="0" rtlCol="0" anchor="ctr"/>
          <a:lstStyle/>
          <a:p>
            <a:pPr marL="0" indent="0" algn="ctr">
              <a:buNone/>
            </a:pPr>
            <a:r>
              <a:rPr lang="en-US" sz="1600" b="1" dirty="0">
                <a:solidFill>
                  <a:srgbClr val="1B3A4B"/>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982316" y="1965960"/>
            <a:ext cx="1965960" cy="868680"/>
          </a:xfrm>
          <a:prstGeom prst="roundRect">
            <a:avLst>
              <a:gd name="adj" fmla="val 9474"/>
            </a:avLst>
          </a:prstGeom>
          <a:solidFill>
            <a:srgbClr val="00A896"/>
          </a:solidFill>
          <a:ln/>
        </p:spPr>
        <p:txBody>
          <a:bodyPr/>
          <a:lstStyle/>
          <a:p>
            <a:endParaRPr lang="en-US"/>
          </a:p>
        </p:txBody>
      </p:sp>
      <p:sp>
        <p:nvSpPr>
          <p:cNvPr id="9" name="Text 7"/>
          <p:cNvSpPr/>
          <p:nvPr/>
        </p:nvSpPr>
        <p:spPr>
          <a:xfrm>
            <a:off x="2982316" y="196596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Integration</a:t>
            </a:r>
            <a:endParaRPr lang="en-US" sz="1100" dirty="0"/>
          </a:p>
        </p:txBody>
      </p:sp>
      <p:sp>
        <p:nvSpPr>
          <p:cNvPr id="10" name="Text 8"/>
          <p:cNvSpPr/>
          <p:nvPr/>
        </p:nvSpPr>
        <p:spPr>
          <a:xfrm>
            <a:off x="4948276" y="2130552"/>
            <a:ext cx="164592" cy="548640"/>
          </a:xfrm>
          <a:prstGeom prst="rect">
            <a:avLst/>
          </a:prstGeom>
          <a:noFill/>
          <a:ln/>
        </p:spPr>
        <p:txBody>
          <a:bodyPr wrap="square" lIns="0" tIns="0" rIns="0" bIns="0" rtlCol="0" anchor="ctr"/>
          <a:lstStyle/>
          <a:p>
            <a:pPr marL="0" indent="0" algn="ctr">
              <a:buNone/>
            </a:pPr>
            <a:r>
              <a:rPr lang="en-US" sz="1600" b="1" dirty="0">
                <a:solidFill>
                  <a:srgbClr val="1B3A4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5112868" y="1965960"/>
            <a:ext cx="1965960" cy="868680"/>
          </a:xfrm>
          <a:prstGeom prst="roundRect">
            <a:avLst>
              <a:gd name="adj" fmla="val 9474"/>
            </a:avLst>
          </a:prstGeom>
          <a:solidFill>
            <a:srgbClr val="028090"/>
          </a:solidFill>
          <a:ln/>
        </p:spPr>
        <p:txBody>
          <a:bodyPr/>
          <a:lstStyle/>
          <a:p>
            <a:endParaRPr lang="en-US"/>
          </a:p>
        </p:txBody>
      </p:sp>
      <p:sp>
        <p:nvSpPr>
          <p:cNvPr id="12" name="Text 10"/>
          <p:cNvSpPr/>
          <p:nvPr/>
        </p:nvSpPr>
        <p:spPr>
          <a:xfrm>
            <a:off x="5112868" y="196596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Cleaning</a:t>
            </a:r>
            <a:endParaRPr lang="en-US" sz="1100" dirty="0"/>
          </a:p>
        </p:txBody>
      </p:sp>
      <p:sp>
        <p:nvSpPr>
          <p:cNvPr id="13" name="Text 11"/>
          <p:cNvSpPr/>
          <p:nvPr/>
        </p:nvSpPr>
        <p:spPr>
          <a:xfrm>
            <a:off x="7078828" y="2130552"/>
            <a:ext cx="164592" cy="548640"/>
          </a:xfrm>
          <a:prstGeom prst="rect">
            <a:avLst/>
          </a:prstGeom>
          <a:noFill/>
          <a:ln/>
        </p:spPr>
        <p:txBody>
          <a:bodyPr wrap="square" lIns="0" tIns="0" rIns="0" bIns="0" rtlCol="0" anchor="ctr"/>
          <a:lstStyle/>
          <a:p>
            <a:pPr marL="0" indent="0" algn="ctr">
              <a:buNone/>
            </a:pPr>
            <a:r>
              <a:rPr lang="en-US" sz="1600" b="1" dirty="0">
                <a:solidFill>
                  <a:srgbClr val="1B3A4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7243420" y="1965960"/>
            <a:ext cx="1965960" cy="868680"/>
          </a:xfrm>
          <a:prstGeom prst="roundRect">
            <a:avLst>
              <a:gd name="adj" fmla="val 9474"/>
            </a:avLst>
          </a:prstGeom>
          <a:solidFill>
            <a:srgbClr val="00A896"/>
          </a:solidFill>
          <a:ln/>
        </p:spPr>
        <p:txBody>
          <a:bodyPr/>
          <a:lstStyle/>
          <a:p>
            <a:endParaRPr lang="en-US"/>
          </a:p>
        </p:txBody>
      </p:sp>
      <p:sp>
        <p:nvSpPr>
          <p:cNvPr id="15" name="Text 13"/>
          <p:cNvSpPr/>
          <p:nvPr/>
        </p:nvSpPr>
        <p:spPr>
          <a:xfrm>
            <a:off x="7243420" y="196596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Exploratory</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Analysis</a:t>
            </a:r>
            <a:endParaRPr lang="en-US" sz="1100" dirty="0"/>
          </a:p>
        </p:txBody>
      </p:sp>
      <p:sp>
        <p:nvSpPr>
          <p:cNvPr id="16" name="Text 14"/>
          <p:cNvSpPr/>
          <p:nvPr/>
        </p:nvSpPr>
        <p:spPr>
          <a:xfrm>
            <a:off x="9209380" y="2130552"/>
            <a:ext cx="164592" cy="548640"/>
          </a:xfrm>
          <a:prstGeom prst="rect">
            <a:avLst/>
          </a:prstGeom>
          <a:noFill/>
          <a:ln/>
        </p:spPr>
        <p:txBody>
          <a:bodyPr wrap="square" lIns="0" tIns="0" rIns="0" bIns="0" rtlCol="0" anchor="ctr"/>
          <a:lstStyle/>
          <a:p>
            <a:pPr marL="0" indent="0" algn="ctr">
              <a:buNone/>
            </a:pPr>
            <a:r>
              <a:rPr lang="en-US" sz="1600" b="1" dirty="0">
                <a:solidFill>
                  <a:srgbClr val="1B3A4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9373972" y="1965960"/>
            <a:ext cx="1965960" cy="868680"/>
          </a:xfrm>
          <a:prstGeom prst="roundRect">
            <a:avLst>
              <a:gd name="adj" fmla="val 9474"/>
            </a:avLst>
          </a:prstGeom>
          <a:solidFill>
            <a:srgbClr val="028090"/>
          </a:solidFill>
          <a:ln/>
        </p:spPr>
        <p:txBody>
          <a:bodyPr/>
          <a:lstStyle/>
          <a:p>
            <a:endParaRPr lang="en-US"/>
          </a:p>
        </p:txBody>
      </p:sp>
      <p:sp>
        <p:nvSpPr>
          <p:cNvPr id="18" name="Text 16"/>
          <p:cNvSpPr/>
          <p:nvPr/>
        </p:nvSpPr>
        <p:spPr>
          <a:xfrm>
            <a:off x="9373972" y="196596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Correlation</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Analysis</a:t>
            </a:r>
            <a:endParaRPr lang="en-US" sz="1100" dirty="0"/>
          </a:p>
        </p:txBody>
      </p:sp>
      <p:sp>
        <p:nvSpPr>
          <p:cNvPr id="19" name="Text 17"/>
          <p:cNvSpPr/>
          <p:nvPr/>
        </p:nvSpPr>
        <p:spPr>
          <a:xfrm>
            <a:off x="5867248" y="2880360"/>
            <a:ext cx="457200" cy="365760"/>
          </a:xfrm>
          <a:prstGeom prst="rect">
            <a:avLst/>
          </a:prstGeom>
          <a:noFill/>
          <a:ln/>
        </p:spPr>
        <p:txBody>
          <a:bodyPr wrap="square" lIns="0" tIns="0" rIns="0" bIns="0" rtlCol="0" anchor="ctr"/>
          <a:lstStyle/>
          <a:p>
            <a:pPr marL="0" indent="0" algn="ctr">
              <a:buNone/>
            </a:pPr>
            <a:r>
              <a:rPr lang="en-US" sz="2000" b="1" dirty="0">
                <a:solidFill>
                  <a:srgbClr val="1B3A4B"/>
                </a:solidFill>
              </a:rPr>
              <a:t>↓</a:t>
            </a:r>
            <a:endParaRPr lang="en-US" sz="2000" dirty="0"/>
          </a:p>
        </p:txBody>
      </p:sp>
      <p:sp>
        <p:nvSpPr>
          <p:cNvPr id="20" name="Shape 18"/>
          <p:cNvSpPr/>
          <p:nvPr/>
        </p:nvSpPr>
        <p:spPr>
          <a:xfrm>
            <a:off x="851764" y="3291840"/>
            <a:ext cx="1965960" cy="868680"/>
          </a:xfrm>
          <a:prstGeom prst="roundRect">
            <a:avLst>
              <a:gd name="adj" fmla="val 9474"/>
            </a:avLst>
          </a:prstGeom>
          <a:solidFill>
            <a:srgbClr val="028090"/>
          </a:solidFill>
          <a:ln/>
        </p:spPr>
        <p:txBody>
          <a:bodyPr/>
          <a:lstStyle/>
          <a:p>
            <a:endParaRPr lang="en-US"/>
          </a:p>
        </p:txBody>
      </p:sp>
      <p:sp>
        <p:nvSpPr>
          <p:cNvPr id="21" name="Text 19"/>
          <p:cNvSpPr/>
          <p:nvPr/>
        </p:nvSpPr>
        <p:spPr>
          <a:xfrm>
            <a:off x="851764" y="329184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Trade-off</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Analysis</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(Eco–Env)</a:t>
            </a:r>
            <a:endParaRPr lang="en-US" sz="1100" dirty="0"/>
          </a:p>
        </p:txBody>
      </p:sp>
      <p:sp>
        <p:nvSpPr>
          <p:cNvPr id="22" name="Text 20"/>
          <p:cNvSpPr/>
          <p:nvPr/>
        </p:nvSpPr>
        <p:spPr>
          <a:xfrm>
            <a:off x="2817724" y="3456432"/>
            <a:ext cx="164592" cy="548640"/>
          </a:xfrm>
          <a:prstGeom prst="rect">
            <a:avLst/>
          </a:prstGeom>
          <a:noFill/>
          <a:ln/>
        </p:spPr>
        <p:txBody>
          <a:bodyPr wrap="square" lIns="0" tIns="0" rIns="0" bIns="0" rtlCol="0" anchor="ctr"/>
          <a:lstStyle/>
          <a:p>
            <a:pPr marL="0" indent="0" algn="ctr">
              <a:buNone/>
            </a:pPr>
            <a:r>
              <a:rPr lang="en-US" sz="1600" b="1" dirty="0">
                <a:solidFill>
                  <a:srgbClr val="1B3A4B"/>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2982316" y="3291840"/>
            <a:ext cx="1965960" cy="868680"/>
          </a:xfrm>
          <a:prstGeom prst="roundRect">
            <a:avLst>
              <a:gd name="adj" fmla="val 9474"/>
            </a:avLst>
          </a:prstGeom>
          <a:solidFill>
            <a:srgbClr val="00A896"/>
          </a:solidFill>
          <a:ln/>
        </p:spPr>
        <p:txBody>
          <a:bodyPr/>
          <a:lstStyle/>
          <a:p>
            <a:endParaRPr lang="en-US"/>
          </a:p>
        </p:txBody>
      </p:sp>
      <p:sp>
        <p:nvSpPr>
          <p:cNvPr id="24" name="Text 22"/>
          <p:cNvSpPr/>
          <p:nvPr/>
        </p:nvSpPr>
        <p:spPr>
          <a:xfrm>
            <a:off x="2982316" y="329184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Outlier</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Detection</a:t>
            </a:r>
            <a:endParaRPr lang="en-US" sz="1100" dirty="0"/>
          </a:p>
        </p:txBody>
      </p:sp>
      <p:sp>
        <p:nvSpPr>
          <p:cNvPr id="25" name="Text 23"/>
          <p:cNvSpPr/>
          <p:nvPr/>
        </p:nvSpPr>
        <p:spPr>
          <a:xfrm>
            <a:off x="4948276" y="3456432"/>
            <a:ext cx="164592" cy="548640"/>
          </a:xfrm>
          <a:prstGeom prst="rect">
            <a:avLst/>
          </a:prstGeom>
          <a:noFill/>
          <a:ln/>
        </p:spPr>
        <p:txBody>
          <a:bodyPr wrap="square" lIns="0" tIns="0" rIns="0" bIns="0" rtlCol="0" anchor="ctr"/>
          <a:lstStyle/>
          <a:p>
            <a:pPr marL="0" indent="0" algn="ctr">
              <a:buNone/>
            </a:pPr>
            <a:r>
              <a:rPr lang="en-US" sz="1600" b="1" dirty="0">
                <a:solidFill>
                  <a:srgbClr val="1B3A4B"/>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5112868" y="3291840"/>
            <a:ext cx="1965960" cy="868680"/>
          </a:xfrm>
          <a:prstGeom prst="roundRect">
            <a:avLst>
              <a:gd name="adj" fmla="val 9474"/>
            </a:avLst>
          </a:prstGeom>
          <a:solidFill>
            <a:srgbClr val="028090"/>
          </a:solidFill>
          <a:ln/>
        </p:spPr>
        <p:txBody>
          <a:bodyPr/>
          <a:lstStyle/>
          <a:p>
            <a:endParaRPr lang="en-US"/>
          </a:p>
        </p:txBody>
      </p:sp>
      <p:sp>
        <p:nvSpPr>
          <p:cNvPr id="27" name="Text 25"/>
          <p:cNvSpPr/>
          <p:nvPr/>
        </p:nvSpPr>
        <p:spPr>
          <a:xfrm>
            <a:off x="5112868" y="329184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Livability</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Profiles</a:t>
            </a:r>
            <a:endParaRPr lang="en-US" sz="1100" dirty="0"/>
          </a:p>
        </p:txBody>
      </p:sp>
      <p:sp>
        <p:nvSpPr>
          <p:cNvPr id="28" name="Text 26"/>
          <p:cNvSpPr/>
          <p:nvPr/>
        </p:nvSpPr>
        <p:spPr>
          <a:xfrm>
            <a:off x="7078828" y="3456432"/>
            <a:ext cx="164592" cy="548640"/>
          </a:xfrm>
          <a:prstGeom prst="rect">
            <a:avLst/>
          </a:prstGeom>
          <a:noFill/>
          <a:ln/>
        </p:spPr>
        <p:txBody>
          <a:bodyPr wrap="square" lIns="0" tIns="0" rIns="0" bIns="0" rtlCol="0" anchor="ctr"/>
          <a:lstStyle/>
          <a:p>
            <a:pPr marL="0" indent="0" algn="ctr">
              <a:buNone/>
            </a:pPr>
            <a:r>
              <a:rPr lang="en-US" sz="1600" b="1" dirty="0">
                <a:solidFill>
                  <a:srgbClr val="1B3A4B"/>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7243420" y="3291840"/>
            <a:ext cx="1965960" cy="868680"/>
          </a:xfrm>
          <a:prstGeom prst="roundRect">
            <a:avLst>
              <a:gd name="adj" fmla="val 9474"/>
            </a:avLst>
          </a:prstGeom>
          <a:solidFill>
            <a:srgbClr val="00A896"/>
          </a:solidFill>
          <a:ln/>
        </p:spPr>
        <p:txBody>
          <a:bodyPr/>
          <a:lstStyle/>
          <a:p>
            <a:endParaRPr lang="en-US"/>
          </a:p>
        </p:txBody>
      </p:sp>
      <p:sp>
        <p:nvSpPr>
          <p:cNvPr id="30" name="Text 28"/>
          <p:cNvSpPr/>
          <p:nvPr/>
        </p:nvSpPr>
        <p:spPr>
          <a:xfrm>
            <a:off x="7243420" y="329184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Exploratory</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Index (Optional)</a:t>
            </a:r>
            <a:endParaRPr lang="en-US" sz="1100" dirty="0"/>
          </a:p>
        </p:txBody>
      </p:sp>
      <p:sp>
        <p:nvSpPr>
          <p:cNvPr id="31" name="Text 29"/>
          <p:cNvSpPr/>
          <p:nvPr/>
        </p:nvSpPr>
        <p:spPr>
          <a:xfrm>
            <a:off x="9209380" y="3456432"/>
            <a:ext cx="164592" cy="548640"/>
          </a:xfrm>
          <a:prstGeom prst="rect">
            <a:avLst/>
          </a:prstGeom>
          <a:noFill/>
          <a:ln/>
        </p:spPr>
        <p:txBody>
          <a:bodyPr wrap="square" lIns="0" tIns="0" rIns="0" bIns="0" rtlCol="0" anchor="ctr"/>
          <a:lstStyle/>
          <a:p>
            <a:pPr marL="0" indent="0" algn="ctr">
              <a:buNone/>
            </a:pPr>
            <a:r>
              <a:rPr lang="en-US" sz="1600" b="1" dirty="0">
                <a:solidFill>
                  <a:srgbClr val="1B3A4B"/>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9373972" y="3291840"/>
            <a:ext cx="1965960" cy="868680"/>
          </a:xfrm>
          <a:prstGeom prst="roundRect">
            <a:avLst>
              <a:gd name="adj" fmla="val 9474"/>
            </a:avLst>
          </a:prstGeom>
          <a:solidFill>
            <a:srgbClr val="028090"/>
          </a:solidFill>
          <a:ln/>
        </p:spPr>
        <p:txBody>
          <a:bodyPr/>
          <a:lstStyle/>
          <a:p>
            <a:endParaRPr lang="en-US"/>
          </a:p>
        </p:txBody>
      </p:sp>
      <p:sp>
        <p:nvSpPr>
          <p:cNvPr id="33" name="Text 31"/>
          <p:cNvSpPr/>
          <p:nvPr/>
        </p:nvSpPr>
        <p:spPr>
          <a:xfrm>
            <a:off x="9373972" y="3291840"/>
            <a:ext cx="1965960" cy="868680"/>
          </a:xfrm>
          <a:prstGeom prst="rect">
            <a:avLst/>
          </a:prstGeom>
          <a:noFill/>
          <a:ln/>
        </p:spPr>
        <p:txBody>
          <a:bodyPr wrap="square" lIns="0" tIns="0" rIns="0" bIns="0" rtlCol="0" anchor="ctr"/>
          <a:lstStyle/>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Insights &amp;</a:t>
            </a:r>
            <a:endParaRPr lang="en-US" sz="1100" dirty="0"/>
          </a:p>
          <a:p>
            <a:pPr marL="0" indent="0" algn="ctr">
              <a:lnSpc>
                <a:spcPct val="100000"/>
              </a:lnSpc>
              <a:buNone/>
            </a:pPr>
            <a:r>
              <a:rPr lang="en-US" sz="1100" b="1" dirty="0">
                <a:solidFill>
                  <a:srgbClr val="FFFFFF"/>
                </a:solidFill>
                <a:latin typeface="Calibri" pitchFamily="34" charset="0"/>
                <a:ea typeface="Calibri" pitchFamily="34" charset="-122"/>
                <a:cs typeface="Calibri" pitchFamily="34" charset="-120"/>
              </a:rPr>
              <a:t>Recommendations</a:t>
            </a:r>
            <a:endParaRPr lang="en-US" sz="1100" dirty="0"/>
          </a:p>
        </p:txBody>
      </p:sp>
      <p:sp>
        <p:nvSpPr>
          <p:cNvPr id="34" name="Text 32"/>
          <p:cNvSpPr/>
          <p:nvPr/>
        </p:nvSpPr>
        <p:spPr>
          <a:xfrm>
            <a:off x="548640" y="4526280"/>
            <a:ext cx="11064240" cy="1371600"/>
          </a:xfrm>
          <a:prstGeom prst="rect">
            <a:avLst/>
          </a:prstGeom>
          <a:noFill/>
          <a:ln/>
        </p:spPr>
        <p:txBody>
          <a:bodyPr wrap="square" lIns="0" tIns="0" rIns="0" bIns="0" rtlCol="0" anchor="t"/>
          <a:lstStyle/>
          <a:p>
            <a:pPr marL="177800" indent="-177800">
              <a:lnSpc>
                <a:spcPct val="110000"/>
              </a:lnSpc>
              <a:spcAft>
                <a:spcPts val="800"/>
              </a:spcAft>
              <a:buSzPct val="100000"/>
              <a:buChar char="•"/>
            </a:pPr>
            <a:r>
              <a:rPr lang="en-US" sz="1250" dirty="0">
                <a:solidFill>
                  <a:srgbClr val="1F2D2E"/>
                </a:solidFill>
                <a:latin typeface="Calibri" pitchFamily="34" charset="0"/>
                <a:ea typeface="Calibri" pitchFamily="34" charset="-122"/>
                <a:cs typeface="Calibri" pitchFamily="34" charset="-120"/>
              </a:rPr>
              <a:t>Interpretability first: the pipeline is built to reveal patterns and relationships, not to build predictive models.</a:t>
            </a:r>
            <a:endParaRPr lang="en-US" sz="1250" dirty="0"/>
          </a:p>
          <a:p>
            <a:pPr marL="177800" indent="-177800">
              <a:lnSpc>
                <a:spcPct val="110000"/>
              </a:lnSpc>
              <a:spcAft>
                <a:spcPts val="800"/>
              </a:spcAft>
              <a:buSzPct val="100000"/>
              <a:buChar char="•"/>
            </a:pPr>
            <a:r>
              <a:rPr lang="en-US" sz="1250" dirty="0">
                <a:solidFill>
                  <a:srgbClr val="1F2D2E"/>
                </a:solidFill>
                <a:latin typeface="Calibri" pitchFamily="34" charset="0"/>
                <a:ea typeface="Calibri" pitchFamily="34" charset="-122"/>
                <a:cs typeface="Calibri" pitchFamily="34" charset="-120"/>
              </a:rPr>
              <a:t>Every stage feeds the next: cleaned, integrated data enables reliable correlation, trade-off and outlier analysis.</a:t>
            </a:r>
            <a:endParaRPr lang="en-US" sz="1250" dirty="0"/>
          </a:p>
          <a:p>
            <a:pPr marL="177800" indent="-177800">
              <a:lnSpc>
                <a:spcPct val="110000"/>
              </a:lnSpc>
              <a:spcAft>
                <a:spcPts val="800"/>
              </a:spcAft>
              <a:buSzPct val="100000"/>
              <a:buChar char="•"/>
            </a:pPr>
            <a:r>
              <a:rPr lang="en-US" sz="1250" dirty="0">
                <a:solidFill>
                  <a:srgbClr val="1F2D2E"/>
                </a:solidFill>
                <a:latin typeface="Calibri" pitchFamily="34" charset="0"/>
                <a:ea typeface="Calibri" pitchFamily="34" charset="-122"/>
                <a:cs typeface="Calibri" pitchFamily="34" charset="-120"/>
              </a:rPr>
              <a:t>The optional livability index is exploratory only — not an official or scientifically validated score.</a:t>
            </a:r>
            <a:endParaRPr lang="en-US" sz="1250" dirty="0"/>
          </a:p>
        </p:txBody>
      </p:sp>
      <p:sp>
        <p:nvSpPr>
          <p:cNvPr id="35" name="Text 3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36" name="Text 3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06</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Methodology / Workflow</a:t>
            </a:r>
            <a:endParaRPr lang="en-US" sz="3000" dirty="0"/>
          </a:p>
        </p:txBody>
      </p:sp>
      <p:sp>
        <p:nvSpPr>
          <p:cNvPr id="4" name="Shape 2"/>
          <p:cNvSpPr/>
          <p:nvPr/>
        </p:nvSpPr>
        <p:spPr>
          <a:xfrm>
            <a:off x="749808" y="1819656"/>
            <a:ext cx="0" cy="809244"/>
          </a:xfrm>
          <a:prstGeom prst="line">
            <a:avLst/>
          </a:prstGeom>
          <a:noFill/>
          <a:ln w="19050">
            <a:solidFill>
              <a:srgbClr val="CFE3E1"/>
            </a:solidFill>
            <a:prstDash val="solid"/>
          </a:ln>
        </p:spPr>
        <p:txBody>
          <a:bodyPr/>
          <a:lstStyle/>
          <a:p>
            <a:endParaRPr lang="en-US"/>
          </a:p>
        </p:txBody>
      </p:sp>
      <p:sp>
        <p:nvSpPr>
          <p:cNvPr id="5" name="Shape 3"/>
          <p:cNvSpPr/>
          <p:nvPr/>
        </p:nvSpPr>
        <p:spPr>
          <a:xfrm>
            <a:off x="548640" y="1417320"/>
            <a:ext cx="402336" cy="402336"/>
          </a:xfrm>
          <a:prstGeom prst="ellipse">
            <a:avLst/>
          </a:prstGeom>
          <a:solidFill>
            <a:srgbClr val="028090"/>
          </a:solidFill>
          <a:ln/>
        </p:spPr>
        <p:txBody>
          <a:bodyPr/>
          <a:lstStyle/>
          <a:p>
            <a:endParaRPr lang="en-US"/>
          </a:p>
        </p:txBody>
      </p:sp>
      <p:sp>
        <p:nvSpPr>
          <p:cNvPr id="6" name="Text 4"/>
          <p:cNvSpPr/>
          <p:nvPr/>
        </p:nvSpPr>
        <p:spPr>
          <a:xfrm>
            <a:off x="548640" y="141732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115568" y="1380744"/>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Data Collection</a:t>
            </a:r>
            <a:endParaRPr lang="en-US" sz="1250" dirty="0"/>
          </a:p>
        </p:txBody>
      </p:sp>
      <p:sp>
        <p:nvSpPr>
          <p:cNvPr id="8" name="Text 6"/>
          <p:cNvSpPr/>
          <p:nvPr/>
        </p:nvSpPr>
        <p:spPr>
          <a:xfrm>
            <a:off x="1115568" y="1636776"/>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World Bank, WHO, Our World in Data, UN, World Happiness Report</a:t>
            </a:r>
            <a:endParaRPr lang="en-US" sz="1000" dirty="0"/>
          </a:p>
        </p:txBody>
      </p:sp>
      <p:sp>
        <p:nvSpPr>
          <p:cNvPr id="9" name="Shape 7"/>
          <p:cNvSpPr/>
          <p:nvPr/>
        </p:nvSpPr>
        <p:spPr>
          <a:xfrm>
            <a:off x="749808" y="2647188"/>
            <a:ext cx="0" cy="809244"/>
          </a:xfrm>
          <a:prstGeom prst="line">
            <a:avLst/>
          </a:prstGeom>
          <a:noFill/>
          <a:ln w="19050">
            <a:solidFill>
              <a:srgbClr val="CFE3E1"/>
            </a:solidFill>
            <a:prstDash val="solid"/>
          </a:ln>
        </p:spPr>
        <p:txBody>
          <a:bodyPr/>
          <a:lstStyle/>
          <a:p>
            <a:endParaRPr lang="en-US"/>
          </a:p>
        </p:txBody>
      </p:sp>
      <p:sp>
        <p:nvSpPr>
          <p:cNvPr id="10" name="Shape 8"/>
          <p:cNvSpPr/>
          <p:nvPr/>
        </p:nvSpPr>
        <p:spPr>
          <a:xfrm>
            <a:off x="548640" y="2244852"/>
            <a:ext cx="402336" cy="402336"/>
          </a:xfrm>
          <a:prstGeom prst="ellipse">
            <a:avLst/>
          </a:prstGeom>
          <a:solidFill>
            <a:srgbClr val="028090"/>
          </a:solidFill>
          <a:ln/>
        </p:spPr>
        <p:txBody>
          <a:bodyPr/>
          <a:lstStyle/>
          <a:p>
            <a:endParaRPr lang="en-US"/>
          </a:p>
        </p:txBody>
      </p:sp>
      <p:sp>
        <p:nvSpPr>
          <p:cNvPr id="11" name="Text 9"/>
          <p:cNvSpPr/>
          <p:nvPr/>
        </p:nvSpPr>
        <p:spPr>
          <a:xfrm>
            <a:off x="548640" y="224485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115568" y="2208276"/>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Dataset Integration</a:t>
            </a:r>
            <a:endParaRPr lang="en-US" sz="1250" dirty="0"/>
          </a:p>
        </p:txBody>
      </p:sp>
      <p:sp>
        <p:nvSpPr>
          <p:cNvPr id="13" name="Text 11"/>
          <p:cNvSpPr/>
          <p:nvPr/>
        </p:nvSpPr>
        <p:spPr>
          <a:xfrm>
            <a:off x="1115568" y="2464308"/>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Merge datasets using Country + Year as common keys</a:t>
            </a:r>
            <a:endParaRPr lang="en-US" sz="1000" dirty="0"/>
          </a:p>
        </p:txBody>
      </p:sp>
      <p:sp>
        <p:nvSpPr>
          <p:cNvPr id="14" name="Shape 12"/>
          <p:cNvSpPr/>
          <p:nvPr/>
        </p:nvSpPr>
        <p:spPr>
          <a:xfrm>
            <a:off x="749808" y="3474720"/>
            <a:ext cx="0" cy="809244"/>
          </a:xfrm>
          <a:prstGeom prst="line">
            <a:avLst/>
          </a:prstGeom>
          <a:noFill/>
          <a:ln w="19050">
            <a:solidFill>
              <a:srgbClr val="CFE3E1"/>
            </a:solidFill>
            <a:prstDash val="solid"/>
          </a:ln>
        </p:spPr>
        <p:txBody>
          <a:bodyPr/>
          <a:lstStyle/>
          <a:p>
            <a:endParaRPr lang="en-US"/>
          </a:p>
        </p:txBody>
      </p:sp>
      <p:sp>
        <p:nvSpPr>
          <p:cNvPr id="15" name="Shape 13"/>
          <p:cNvSpPr/>
          <p:nvPr/>
        </p:nvSpPr>
        <p:spPr>
          <a:xfrm>
            <a:off x="548640" y="3072384"/>
            <a:ext cx="402336" cy="402336"/>
          </a:xfrm>
          <a:prstGeom prst="ellipse">
            <a:avLst/>
          </a:prstGeom>
          <a:solidFill>
            <a:srgbClr val="028090"/>
          </a:solidFill>
          <a:ln/>
        </p:spPr>
        <p:txBody>
          <a:bodyPr/>
          <a:lstStyle/>
          <a:p>
            <a:endParaRPr lang="en-US"/>
          </a:p>
        </p:txBody>
      </p:sp>
      <p:sp>
        <p:nvSpPr>
          <p:cNvPr id="16" name="Text 14"/>
          <p:cNvSpPr/>
          <p:nvPr/>
        </p:nvSpPr>
        <p:spPr>
          <a:xfrm>
            <a:off x="548640" y="30723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15568" y="3035808"/>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Data Cleaning</a:t>
            </a:r>
            <a:endParaRPr lang="en-US" sz="1250" dirty="0"/>
          </a:p>
        </p:txBody>
      </p:sp>
      <p:sp>
        <p:nvSpPr>
          <p:cNvPr id="18" name="Text 16"/>
          <p:cNvSpPr/>
          <p:nvPr/>
        </p:nvSpPr>
        <p:spPr>
          <a:xfrm>
            <a:off x="1115568" y="3291840"/>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Missing values, duplicates, data types, country-name standardization, outlier checks, feature selection</a:t>
            </a:r>
            <a:endParaRPr lang="en-US" sz="1000" dirty="0"/>
          </a:p>
        </p:txBody>
      </p:sp>
      <p:sp>
        <p:nvSpPr>
          <p:cNvPr id="19" name="Shape 17"/>
          <p:cNvSpPr/>
          <p:nvPr/>
        </p:nvSpPr>
        <p:spPr>
          <a:xfrm>
            <a:off x="749808" y="4302252"/>
            <a:ext cx="0" cy="809244"/>
          </a:xfrm>
          <a:prstGeom prst="line">
            <a:avLst/>
          </a:prstGeom>
          <a:noFill/>
          <a:ln w="19050">
            <a:solidFill>
              <a:srgbClr val="CFE3E1"/>
            </a:solidFill>
            <a:prstDash val="solid"/>
          </a:ln>
        </p:spPr>
        <p:txBody>
          <a:bodyPr/>
          <a:lstStyle/>
          <a:p>
            <a:endParaRPr lang="en-US"/>
          </a:p>
        </p:txBody>
      </p:sp>
      <p:sp>
        <p:nvSpPr>
          <p:cNvPr id="20" name="Shape 18"/>
          <p:cNvSpPr/>
          <p:nvPr/>
        </p:nvSpPr>
        <p:spPr>
          <a:xfrm>
            <a:off x="548640" y="3899916"/>
            <a:ext cx="402336" cy="402336"/>
          </a:xfrm>
          <a:prstGeom prst="ellipse">
            <a:avLst/>
          </a:prstGeom>
          <a:solidFill>
            <a:srgbClr val="028090"/>
          </a:solidFill>
          <a:ln/>
        </p:spPr>
        <p:txBody>
          <a:bodyPr/>
          <a:lstStyle/>
          <a:p>
            <a:endParaRPr lang="en-US"/>
          </a:p>
        </p:txBody>
      </p:sp>
      <p:sp>
        <p:nvSpPr>
          <p:cNvPr id="21" name="Text 19"/>
          <p:cNvSpPr/>
          <p:nvPr/>
        </p:nvSpPr>
        <p:spPr>
          <a:xfrm>
            <a:off x="548640" y="389991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1115568" y="3863340"/>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Univariate Analysis</a:t>
            </a:r>
            <a:endParaRPr lang="en-US" sz="1250" dirty="0"/>
          </a:p>
        </p:txBody>
      </p:sp>
      <p:sp>
        <p:nvSpPr>
          <p:cNvPr id="23" name="Text 21"/>
          <p:cNvSpPr/>
          <p:nvPr/>
        </p:nvSpPr>
        <p:spPr>
          <a:xfrm>
            <a:off x="1115568" y="4119372"/>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Mean, median, std. deviation, IQR, histograms, boxplots, distributions</a:t>
            </a:r>
            <a:endParaRPr lang="en-US" sz="1000" dirty="0"/>
          </a:p>
        </p:txBody>
      </p:sp>
      <p:sp>
        <p:nvSpPr>
          <p:cNvPr id="24" name="Shape 22"/>
          <p:cNvSpPr/>
          <p:nvPr/>
        </p:nvSpPr>
        <p:spPr>
          <a:xfrm>
            <a:off x="548640" y="4727448"/>
            <a:ext cx="402336" cy="402336"/>
          </a:xfrm>
          <a:prstGeom prst="ellipse">
            <a:avLst/>
          </a:prstGeom>
          <a:solidFill>
            <a:srgbClr val="028090"/>
          </a:solidFill>
          <a:ln/>
        </p:spPr>
        <p:txBody>
          <a:bodyPr/>
          <a:lstStyle/>
          <a:p>
            <a:endParaRPr lang="en-US"/>
          </a:p>
        </p:txBody>
      </p:sp>
      <p:sp>
        <p:nvSpPr>
          <p:cNvPr id="25" name="Text 23"/>
          <p:cNvSpPr/>
          <p:nvPr/>
        </p:nvSpPr>
        <p:spPr>
          <a:xfrm>
            <a:off x="548640" y="47274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6" name="Text 24"/>
          <p:cNvSpPr/>
          <p:nvPr/>
        </p:nvSpPr>
        <p:spPr>
          <a:xfrm>
            <a:off x="1115568" y="4690872"/>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Bivariate Analysis</a:t>
            </a:r>
            <a:endParaRPr lang="en-US" sz="1250" dirty="0"/>
          </a:p>
        </p:txBody>
      </p:sp>
      <p:sp>
        <p:nvSpPr>
          <p:cNvPr id="27" name="Text 25"/>
          <p:cNvSpPr/>
          <p:nvPr/>
        </p:nvSpPr>
        <p:spPr>
          <a:xfrm>
            <a:off x="1115568" y="4946904"/>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GDP vs. Life Expectancy, GDP vs. CO₂, Education vs. Life Expectancy, Healthcare vs. Life Expectancy, Urbanization vs. Pollution</a:t>
            </a:r>
            <a:endParaRPr lang="en-US" sz="1000" dirty="0"/>
          </a:p>
        </p:txBody>
      </p:sp>
      <p:sp>
        <p:nvSpPr>
          <p:cNvPr id="28" name="Shape 26"/>
          <p:cNvSpPr/>
          <p:nvPr/>
        </p:nvSpPr>
        <p:spPr>
          <a:xfrm>
            <a:off x="6373368" y="1819656"/>
            <a:ext cx="0" cy="809244"/>
          </a:xfrm>
          <a:prstGeom prst="line">
            <a:avLst/>
          </a:prstGeom>
          <a:noFill/>
          <a:ln w="19050">
            <a:solidFill>
              <a:srgbClr val="CFE3E1"/>
            </a:solidFill>
            <a:prstDash val="solid"/>
          </a:ln>
        </p:spPr>
        <p:txBody>
          <a:bodyPr/>
          <a:lstStyle/>
          <a:p>
            <a:endParaRPr lang="en-US"/>
          </a:p>
        </p:txBody>
      </p:sp>
      <p:sp>
        <p:nvSpPr>
          <p:cNvPr id="29" name="Shape 27"/>
          <p:cNvSpPr/>
          <p:nvPr/>
        </p:nvSpPr>
        <p:spPr>
          <a:xfrm>
            <a:off x="6172200" y="1417320"/>
            <a:ext cx="402336" cy="402336"/>
          </a:xfrm>
          <a:prstGeom prst="ellipse">
            <a:avLst/>
          </a:prstGeom>
          <a:solidFill>
            <a:srgbClr val="028090"/>
          </a:solidFill>
          <a:ln/>
        </p:spPr>
        <p:txBody>
          <a:bodyPr/>
          <a:lstStyle/>
          <a:p>
            <a:endParaRPr lang="en-US"/>
          </a:p>
        </p:txBody>
      </p:sp>
      <p:sp>
        <p:nvSpPr>
          <p:cNvPr id="30" name="Text 28"/>
          <p:cNvSpPr/>
          <p:nvPr/>
        </p:nvSpPr>
        <p:spPr>
          <a:xfrm>
            <a:off x="6172200" y="141732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1" name="Text 29"/>
          <p:cNvSpPr/>
          <p:nvPr/>
        </p:nvSpPr>
        <p:spPr>
          <a:xfrm>
            <a:off x="6739128" y="1380744"/>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Multivariate Analysis</a:t>
            </a:r>
            <a:endParaRPr lang="en-US" sz="1250" dirty="0"/>
          </a:p>
        </p:txBody>
      </p:sp>
      <p:sp>
        <p:nvSpPr>
          <p:cNvPr id="32" name="Text 30"/>
          <p:cNvSpPr/>
          <p:nvPr/>
        </p:nvSpPr>
        <p:spPr>
          <a:xfrm>
            <a:off x="6739128" y="1636776"/>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Interactions among economic, health, social and environmental indicators</a:t>
            </a:r>
            <a:endParaRPr lang="en-US" sz="1000" dirty="0"/>
          </a:p>
        </p:txBody>
      </p:sp>
      <p:sp>
        <p:nvSpPr>
          <p:cNvPr id="33" name="Shape 31"/>
          <p:cNvSpPr/>
          <p:nvPr/>
        </p:nvSpPr>
        <p:spPr>
          <a:xfrm>
            <a:off x="6373368" y="2647188"/>
            <a:ext cx="0" cy="809244"/>
          </a:xfrm>
          <a:prstGeom prst="line">
            <a:avLst/>
          </a:prstGeom>
          <a:noFill/>
          <a:ln w="19050">
            <a:solidFill>
              <a:srgbClr val="CFE3E1"/>
            </a:solidFill>
            <a:prstDash val="solid"/>
          </a:ln>
        </p:spPr>
        <p:txBody>
          <a:bodyPr/>
          <a:lstStyle/>
          <a:p>
            <a:endParaRPr lang="en-US"/>
          </a:p>
        </p:txBody>
      </p:sp>
      <p:sp>
        <p:nvSpPr>
          <p:cNvPr id="34" name="Shape 32"/>
          <p:cNvSpPr/>
          <p:nvPr/>
        </p:nvSpPr>
        <p:spPr>
          <a:xfrm>
            <a:off x="6172200" y="2244852"/>
            <a:ext cx="402336" cy="402336"/>
          </a:xfrm>
          <a:prstGeom prst="ellipse">
            <a:avLst/>
          </a:prstGeom>
          <a:solidFill>
            <a:srgbClr val="028090"/>
          </a:solidFill>
          <a:ln/>
        </p:spPr>
        <p:txBody>
          <a:bodyPr/>
          <a:lstStyle/>
          <a:p>
            <a:endParaRPr lang="en-US"/>
          </a:p>
        </p:txBody>
      </p:sp>
      <p:sp>
        <p:nvSpPr>
          <p:cNvPr id="35" name="Text 33"/>
          <p:cNvSpPr/>
          <p:nvPr/>
        </p:nvSpPr>
        <p:spPr>
          <a:xfrm>
            <a:off x="6172200" y="224485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6" name="Text 34"/>
          <p:cNvSpPr/>
          <p:nvPr/>
        </p:nvSpPr>
        <p:spPr>
          <a:xfrm>
            <a:off x="6739128" y="2208276"/>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Outlier Analysis</a:t>
            </a:r>
            <a:endParaRPr lang="en-US" sz="1250" dirty="0"/>
          </a:p>
        </p:txBody>
      </p:sp>
      <p:sp>
        <p:nvSpPr>
          <p:cNvPr id="37" name="Text 35"/>
          <p:cNvSpPr/>
          <p:nvPr/>
        </p:nvSpPr>
        <p:spPr>
          <a:xfrm>
            <a:off x="6739128" y="2464308"/>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Identify countries that behave differently from general trends</a:t>
            </a:r>
            <a:endParaRPr lang="en-US" sz="1000" dirty="0"/>
          </a:p>
        </p:txBody>
      </p:sp>
      <p:sp>
        <p:nvSpPr>
          <p:cNvPr id="38" name="Shape 36"/>
          <p:cNvSpPr/>
          <p:nvPr/>
        </p:nvSpPr>
        <p:spPr>
          <a:xfrm>
            <a:off x="6373368" y="3474720"/>
            <a:ext cx="0" cy="809244"/>
          </a:xfrm>
          <a:prstGeom prst="line">
            <a:avLst/>
          </a:prstGeom>
          <a:noFill/>
          <a:ln w="19050">
            <a:solidFill>
              <a:srgbClr val="CFE3E1"/>
            </a:solidFill>
            <a:prstDash val="solid"/>
          </a:ln>
        </p:spPr>
        <p:txBody>
          <a:bodyPr/>
          <a:lstStyle/>
          <a:p>
            <a:endParaRPr lang="en-US"/>
          </a:p>
        </p:txBody>
      </p:sp>
      <p:sp>
        <p:nvSpPr>
          <p:cNvPr id="39" name="Shape 37"/>
          <p:cNvSpPr/>
          <p:nvPr/>
        </p:nvSpPr>
        <p:spPr>
          <a:xfrm>
            <a:off x="6172200" y="3072384"/>
            <a:ext cx="402336" cy="402336"/>
          </a:xfrm>
          <a:prstGeom prst="ellipse">
            <a:avLst/>
          </a:prstGeom>
          <a:solidFill>
            <a:srgbClr val="028090"/>
          </a:solidFill>
          <a:ln/>
        </p:spPr>
        <p:txBody>
          <a:bodyPr/>
          <a:lstStyle/>
          <a:p>
            <a:endParaRPr lang="en-US"/>
          </a:p>
        </p:txBody>
      </p:sp>
      <p:sp>
        <p:nvSpPr>
          <p:cNvPr id="40" name="Text 38"/>
          <p:cNvSpPr/>
          <p:nvPr/>
        </p:nvSpPr>
        <p:spPr>
          <a:xfrm>
            <a:off x="6172200" y="30723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41" name="Text 39"/>
          <p:cNvSpPr/>
          <p:nvPr/>
        </p:nvSpPr>
        <p:spPr>
          <a:xfrm>
            <a:off x="6739128" y="3035808"/>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Country Profiling</a:t>
            </a:r>
            <a:endParaRPr lang="en-US" sz="1250" dirty="0"/>
          </a:p>
        </p:txBody>
      </p:sp>
      <p:sp>
        <p:nvSpPr>
          <p:cNvPr id="42" name="Text 40"/>
          <p:cNvSpPr/>
          <p:nvPr/>
        </p:nvSpPr>
        <p:spPr>
          <a:xfrm>
            <a:off x="6739128" y="3291840"/>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Build multidimensional livability profiles for selected countries</a:t>
            </a:r>
            <a:endParaRPr lang="en-US" sz="1000" dirty="0"/>
          </a:p>
        </p:txBody>
      </p:sp>
      <p:sp>
        <p:nvSpPr>
          <p:cNvPr id="43" name="Shape 41"/>
          <p:cNvSpPr/>
          <p:nvPr/>
        </p:nvSpPr>
        <p:spPr>
          <a:xfrm>
            <a:off x="6373368" y="4302252"/>
            <a:ext cx="0" cy="809244"/>
          </a:xfrm>
          <a:prstGeom prst="line">
            <a:avLst/>
          </a:prstGeom>
          <a:noFill/>
          <a:ln w="19050">
            <a:solidFill>
              <a:srgbClr val="CFE3E1"/>
            </a:solidFill>
            <a:prstDash val="solid"/>
          </a:ln>
        </p:spPr>
        <p:txBody>
          <a:bodyPr/>
          <a:lstStyle/>
          <a:p>
            <a:endParaRPr lang="en-US"/>
          </a:p>
        </p:txBody>
      </p:sp>
      <p:sp>
        <p:nvSpPr>
          <p:cNvPr id="44" name="Shape 42"/>
          <p:cNvSpPr/>
          <p:nvPr/>
        </p:nvSpPr>
        <p:spPr>
          <a:xfrm>
            <a:off x="6172200" y="3899916"/>
            <a:ext cx="402336" cy="402336"/>
          </a:xfrm>
          <a:prstGeom prst="ellipse">
            <a:avLst/>
          </a:prstGeom>
          <a:solidFill>
            <a:srgbClr val="028090"/>
          </a:solidFill>
          <a:ln/>
        </p:spPr>
        <p:txBody>
          <a:bodyPr/>
          <a:lstStyle/>
          <a:p>
            <a:endParaRPr lang="en-US"/>
          </a:p>
        </p:txBody>
      </p:sp>
      <p:sp>
        <p:nvSpPr>
          <p:cNvPr id="45" name="Text 43"/>
          <p:cNvSpPr/>
          <p:nvPr/>
        </p:nvSpPr>
        <p:spPr>
          <a:xfrm>
            <a:off x="6172200" y="389991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46" name="Text 44"/>
          <p:cNvSpPr/>
          <p:nvPr/>
        </p:nvSpPr>
        <p:spPr>
          <a:xfrm>
            <a:off x="6739128" y="3863340"/>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Exploratory Livability Index</a:t>
            </a:r>
            <a:endParaRPr lang="en-US" sz="1250" dirty="0"/>
          </a:p>
        </p:txBody>
      </p:sp>
      <p:sp>
        <p:nvSpPr>
          <p:cNvPr id="47" name="Text 45"/>
          <p:cNvSpPr/>
          <p:nvPr/>
        </p:nvSpPr>
        <p:spPr>
          <a:xfrm>
            <a:off x="6739128" y="4119372"/>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Normalize and combine indicators — for visualization only (optional)</a:t>
            </a:r>
            <a:endParaRPr lang="en-US" sz="1000" dirty="0"/>
          </a:p>
        </p:txBody>
      </p:sp>
      <p:sp>
        <p:nvSpPr>
          <p:cNvPr id="48" name="Shape 46"/>
          <p:cNvSpPr/>
          <p:nvPr/>
        </p:nvSpPr>
        <p:spPr>
          <a:xfrm>
            <a:off x="6172200" y="4727448"/>
            <a:ext cx="402336" cy="402336"/>
          </a:xfrm>
          <a:prstGeom prst="ellipse">
            <a:avLst/>
          </a:prstGeom>
          <a:solidFill>
            <a:srgbClr val="028090"/>
          </a:solidFill>
          <a:ln/>
        </p:spPr>
        <p:txBody>
          <a:bodyPr/>
          <a:lstStyle/>
          <a:p>
            <a:endParaRPr lang="en-US"/>
          </a:p>
        </p:txBody>
      </p:sp>
      <p:sp>
        <p:nvSpPr>
          <p:cNvPr id="49" name="Text 47"/>
          <p:cNvSpPr/>
          <p:nvPr/>
        </p:nvSpPr>
        <p:spPr>
          <a:xfrm>
            <a:off x="6172200" y="47274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50" name="Text 48"/>
          <p:cNvSpPr/>
          <p:nvPr/>
        </p:nvSpPr>
        <p:spPr>
          <a:xfrm>
            <a:off x="6739128" y="4690872"/>
            <a:ext cx="4846320" cy="274320"/>
          </a:xfrm>
          <a:prstGeom prst="rect">
            <a:avLst/>
          </a:prstGeom>
          <a:noFill/>
          <a:ln/>
        </p:spPr>
        <p:txBody>
          <a:bodyPr wrap="square" lIns="0" tIns="0" rIns="0" bIns="0"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Insights</a:t>
            </a:r>
            <a:endParaRPr lang="en-US" sz="1250" dirty="0"/>
          </a:p>
        </p:txBody>
      </p:sp>
      <p:sp>
        <p:nvSpPr>
          <p:cNvPr id="51" name="Text 49"/>
          <p:cNvSpPr/>
          <p:nvPr/>
        </p:nvSpPr>
        <p:spPr>
          <a:xfrm>
            <a:off x="6739128" y="4946904"/>
            <a:ext cx="4846320" cy="548640"/>
          </a:xfrm>
          <a:prstGeom prst="rect">
            <a:avLst/>
          </a:prstGeom>
          <a:noFill/>
          <a:ln/>
        </p:spPr>
        <p:txBody>
          <a:bodyPr wrap="square" lIns="0" tIns="0" rIns="0" bIns="0" rtlCol="0" anchor="t"/>
          <a:lstStyle/>
          <a:p>
            <a:pPr marL="0" indent="0">
              <a:lnSpc>
                <a:spcPct val="105000"/>
              </a:lnSpc>
              <a:buNone/>
            </a:pPr>
            <a:r>
              <a:rPr lang="en-US" sz="1000" dirty="0">
                <a:solidFill>
                  <a:srgbClr val="5B6E70"/>
                </a:solidFill>
                <a:latin typeface="Calibri" pitchFamily="34" charset="0"/>
                <a:ea typeface="Calibri" pitchFamily="34" charset="-122"/>
                <a:cs typeface="Calibri" pitchFamily="34" charset="-120"/>
              </a:rPr>
              <a:t>Generate meaningful, real-world findings and possible policy implications</a:t>
            </a:r>
            <a:endParaRPr lang="en-US" sz="1000" dirty="0"/>
          </a:p>
        </p:txBody>
      </p:sp>
      <p:sp>
        <p:nvSpPr>
          <p:cNvPr id="52" name="Text 50"/>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53" name="Text 51"/>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07</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Tools &amp; Technologies</a:t>
            </a:r>
            <a:endParaRPr lang="en-US" sz="3000" dirty="0"/>
          </a:p>
        </p:txBody>
      </p:sp>
      <p:sp>
        <p:nvSpPr>
          <p:cNvPr id="4" name="Shape 2"/>
          <p:cNvSpPr/>
          <p:nvPr/>
        </p:nvSpPr>
        <p:spPr>
          <a:xfrm>
            <a:off x="548640" y="1463040"/>
            <a:ext cx="5394960" cy="1783080"/>
          </a:xfrm>
          <a:prstGeom prst="roundRect">
            <a:avLst>
              <a:gd name="adj" fmla="val 4103"/>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5" name="Shape 3"/>
          <p:cNvSpPr/>
          <p:nvPr/>
        </p:nvSpPr>
        <p:spPr>
          <a:xfrm>
            <a:off x="777240" y="1691640"/>
            <a:ext cx="457200" cy="457200"/>
          </a:xfrm>
          <a:prstGeom prst="roundRect">
            <a:avLst>
              <a:gd name="adj" fmla="val 50000"/>
            </a:avLst>
          </a:prstGeom>
          <a:solidFill>
            <a:srgbClr val="028090"/>
          </a:solidFill>
          <a:ln/>
        </p:spPr>
        <p:txBody>
          <a:bodyPr/>
          <a:lstStyle/>
          <a:p>
            <a:endParaRPr lang="en-US"/>
          </a:p>
        </p:txBody>
      </p:sp>
      <p:sp>
        <p:nvSpPr>
          <p:cNvPr id="6" name="Text 4"/>
          <p:cNvSpPr/>
          <p:nvPr/>
        </p:nvSpPr>
        <p:spPr>
          <a:xfrm>
            <a:off x="77724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719072"/>
            <a:ext cx="4297680" cy="41148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Programming Language</a:t>
            </a:r>
            <a:endParaRPr lang="en-US" sz="1500" dirty="0"/>
          </a:p>
        </p:txBody>
      </p:sp>
      <p:sp>
        <p:nvSpPr>
          <p:cNvPr id="8" name="Shape 6"/>
          <p:cNvSpPr/>
          <p:nvPr/>
        </p:nvSpPr>
        <p:spPr>
          <a:xfrm>
            <a:off x="777240" y="2377440"/>
            <a:ext cx="100584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9" name="Text 7"/>
          <p:cNvSpPr/>
          <p:nvPr/>
        </p:nvSpPr>
        <p:spPr>
          <a:xfrm>
            <a:off x="777240" y="2377440"/>
            <a:ext cx="100584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Python</a:t>
            </a:r>
            <a:endParaRPr lang="en-US" sz="1100" dirty="0"/>
          </a:p>
        </p:txBody>
      </p:sp>
      <p:sp>
        <p:nvSpPr>
          <p:cNvPr id="10" name="Shape 8"/>
          <p:cNvSpPr/>
          <p:nvPr/>
        </p:nvSpPr>
        <p:spPr>
          <a:xfrm>
            <a:off x="6217920" y="1463040"/>
            <a:ext cx="5394960" cy="1783080"/>
          </a:xfrm>
          <a:prstGeom prst="roundRect">
            <a:avLst>
              <a:gd name="adj" fmla="val 4103"/>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11" name="Shape 9"/>
          <p:cNvSpPr/>
          <p:nvPr/>
        </p:nvSpPr>
        <p:spPr>
          <a:xfrm>
            <a:off x="6446520" y="1691640"/>
            <a:ext cx="457200" cy="457200"/>
          </a:xfrm>
          <a:prstGeom prst="roundRect">
            <a:avLst>
              <a:gd name="adj" fmla="val 50000"/>
            </a:avLst>
          </a:prstGeom>
          <a:solidFill>
            <a:srgbClr val="028090"/>
          </a:solidFill>
          <a:ln/>
        </p:spPr>
        <p:txBody>
          <a:bodyPr/>
          <a:lstStyle/>
          <a:p>
            <a:endParaRPr lang="en-US"/>
          </a:p>
        </p:txBody>
      </p:sp>
      <p:sp>
        <p:nvSpPr>
          <p:cNvPr id="12" name="Text 10"/>
          <p:cNvSpPr/>
          <p:nvPr/>
        </p:nvSpPr>
        <p:spPr>
          <a:xfrm>
            <a:off x="6446520" y="1691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7086600" y="1719072"/>
            <a:ext cx="4297680" cy="41148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Core Libraries</a:t>
            </a:r>
            <a:endParaRPr lang="en-US" sz="1500" dirty="0"/>
          </a:p>
        </p:txBody>
      </p:sp>
      <p:sp>
        <p:nvSpPr>
          <p:cNvPr id="14" name="Shape 12"/>
          <p:cNvSpPr/>
          <p:nvPr/>
        </p:nvSpPr>
        <p:spPr>
          <a:xfrm>
            <a:off x="6446520" y="2377440"/>
            <a:ext cx="100584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15" name="Text 13"/>
          <p:cNvSpPr/>
          <p:nvPr/>
        </p:nvSpPr>
        <p:spPr>
          <a:xfrm>
            <a:off x="6446520" y="2377440"/>
            <a:ext cx="100584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Pandas</a:t>
            </a:r>
            <a:endParaRPr lang="en-US" sz="1100" dirty="0"/>
          </a:p>
        </p:txBody>
      </p:sp>
      <p:sp>
        <p:nvSpPr>
          <p:cNvPr id="16" name="Shape 14"/>
          <p:cNvSpPr/>
          <p:nvPr/>
        </p:nvSpPr>
        <p:spPr>
          <a:xfrm>
            <a:off x="7589520" y="2377440"/>
            <a:ext cx="91440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17" name="Text 15"/>
          <p:cNvSpPr/>
          <p:nvPr/>
        </p:nvSpPr>
        <p:spPr>
          <a:xfrm>
            <a:off x="7589520" y="2377440"/>
            <a:ext cx="91440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NumPy</a:t>
            </a:r>
            <a:endParaRPr lang="en-US" sz="1100" dirty="0"/>
          </a:p>
        </p:txBody>
      </p:sp>
      <p:sp>
        <p:nvSpPr>
          <p:cNvPr id="18" name="Shape 16"/>
          <p:cNvSpPr/>
          <p:nvPr/>
        </p:nvSpPr>
        <p:spPr>
          <a:xfrm>
            <a:off x="8641080" y="2377440"/>
            <a:ext cx="137160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19" name="Text 17"/>
          <p:cNvSpPr/>
          <p:nvPr/>
        </p:nvSpPr>
        <p:spPr>
          <a:xfrm>
            <a:off x="8641080" y="2377440"/>
            <a:ext cx="137160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Matplotlib</a:t>
            </a:r>
            <a:endParaRPr lang="en-US" sz="1100" dirty="0"/>
          </a:p>
        </p:txBody>
      </p:sp>
      <p:sp>
        <p:nvSpPr>
          <p:cNvPr id="20" name="Shape 18"/>
          <p:cNvSpPr/>
          <p:nvPr/>
        </p:nvSpPr>
        <p:spPr>
          <a:xfrm>
            <a:off x="10149840" y="2377440"/>
            <a:ext cx="109728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21" name="Text 19"/>
          <p:cNvSpPr/>
          <p:nvPr/>
        </p:nvSpPr>
        <p:spPr>
          <a:xfrm>
            <a:off x="10149840" y="2377440"/>
            <a:ext cx="109728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Seaborn</a:t>
            </a:r>
            <a:endParaRPr lang="en-US" sz="1100" dirty="0"/>
          </a:p>
        </p:txBody>
      </p:sp>
      <p:sp>
        <p:nvSpPr>
          <p:cNvPr id="22" name="Shape 20"/>
          <p:cNvSpPr/>
          <p:nvPr/>
        </p:nvSpPr>
        <p:spPr>
          <a:xfrm>
            <a:off x="548640" y="3474720"/>
            <a:ext cx="5394960" cy="1783080"/>
          </a:xfrm>
          <a:prstGeom prst="roundRect">
            <a:avLst>
              <a:gd name="adj" fmla="val 4103"/>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23" name="Shape 21"/>
          <p:cNvSpPr/>
          <p:nvPr/>
        </p:nvSpPr>
        <p:spPr>
          <a:xfrm>
            <a:off x="777240" y="3703320"/>
            <a:ext cx="457200" cy="457200"/>
          </a:xfrm>
          <a:prstGeom prst="roundRect">
            <a:avLst>
              <a:gd name="adj" fmla="val 50000"/>
            </a:avLst>
          </a:prstGeom>
          <a:solidFill>
            <a:srgbClr val="028090"/>
          </a:solidFill>
          <a:ln/>
        </p:spPr>
        <p:txBody>
          <a:bodyPr/>
          <a:lstStyle/>
          <a:p>
            <a:endParaRPr lang="en-US"/>
          </a:p>
        </p:txBody>
      </p:sp>
      <p:sp>
        <p:nvSpPr>
          <p:cNvPr id="24" name="Text 22"/>
          <p:cNvSpPr/>
          <p:nvPr/>
        </p:nvSpPr>
        <p:spPr>
          <a:xfrm>
            <a:off x="777240" y="37033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5" name="Text 23"/>
          <p:cNvSpPr/>
          <p:nvPr/>
        </p:nvSpPr>
        <p:spPr>
          <a:xfrm>
            <a:off x="1417320" y="3730752"/>
            <a:ext cx="4297680" cy="41148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Development Environment</a:t>
            </a:r>
            <a:endParaRPr lang="en-US" sz="1500" dirty="0"/>
          </a:p>
        </p:txBody>
      </p:sp>
      <p:sp>
        <p:nvSpPr>
          <p:cNvPr id="26" name="Shape 24"/>
          <p:cNvSpPr/>
          <p:nvPr/>
        </p:nvSpPr>
        <p:spPr>
          <a:xfrm>
            <a:off x="777240" y="4389120"/>
            <a:ext cx="192024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27" name="Text 25"/>
          <p:cNvSpPr/>
          <p:nvPr/>
        </p:nvSpPr>
        <p:spPr>
          <a:xfrm>
            <a:off x="777240" y="4389120"/>
            <a:ext cx="192024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Jupyter Notebook</a:t>
            </a:r>
            <a:endParaRPr lang="en-US" sz="1100" dirty="0"/>
          </a:p>
        </p:txBody>
      </p:sp>
      <p:sp>
        <p:nvSpPr>
          <p:cNvPr id="28" name="Shape 26"/>
          <p:cNvSpPr/>
          <p:nvPr/>
        </p:nvSpPr>
        <p:spPr>
          <a:xfrm>
            <a:off x="2834640" y="4389120"/>
            <a:ext cx="155448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29" name="Text 27"/>
          <p:cNvSpPr/>
          <p:nvPr/>
        </p:nvSpPr>
        <p:spPr>
          <a:xfrm>
            <a:off x="2834640" y="4389120"/>
            <a:ext cx="155448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Google Colab</a:t>
            </a:r>
            <a:endParaRPr lang="en-US" sz="1100" dirty="0"/>
          </a:p>
        </p:txBody>
      </p:sp>
      <p:sp>
        <p:nvSpPr>
          <p:cNvPr id="30" name="Shape 28"/>
          <p:cNvSpPr/>
          <p:nvPr/>
        </p:nvSpPr>
        <p:spPr>
          <a:xfrm>
            <a:off x="777240" y="4892040"/>
            <a:ext cx="237744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31" name="Text 29"/>
          <p:cNvSpPr/>
          <p:nvPr/>
        </p:nvSpPr>
        <p:spPr>
          <a:xfrm>
            <a:off x="777240" y="4892040"/>
            <a:ext cx="237744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VS Code (if required)</a:t>
            </a:r>
            <a:endParaRPr lang="en-US" sz="1100" dirty="0"/>
          </a:p>
        </p:txBody>
      </p:sp>
      <p:sp>
        <p:nvSpPr>
          <p:cNvPr id="32" name="Shape 30"/>
          <p:cNvSpPr/>
          <p:nvPr/>
        </p:nvSpPr>
        <p:spPr>
          <a:xfrm>
            <a:off x="6217920" y="3474720"/>
            <a:ext cx="5394960" cy="1783080"/>
          </a:xfrm>
          <a:prstGeom prst="roundRect">
            <a:avLst>
              <a:gd name="adj" fmla="val 4103"/>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33" name="Shape 31"/>
          <p:cNvSpPr/>
          <p:nvPr/>
        </p:nvSpPr>
        <p:spPr>
          <a:xfrm>
            <a:off x="6446520" y="3703320"/>
            <a:ext cx="457200" cy="457200"/>
          </a:xfrm>
          <a:prstGeom prst="roundRect">
            <a:avLst>
              <a:gd name="adj" fmla="val 50000"/>
            </a:avLst>
          </a:prstGeom>
          <a:solidFill>
            <a:srgbClr val="028090"/>
          </a:solidFill>
          <a:ln/>
        </p:spPr>
        <p:txBody>
          <a:bodyPr/>
          <a:lstStyle/>
          <a:p>
            <a:endParaRPr lang="en-US"/>
          </a:p>
        </p:txBody>
      </p:sp>
      <p:sp>
        <p:nvSpPr>
          <p:cNvPr id="34" name="Text 32"/>
          <p:cNvSpPr/>
          <p:nvPr/>
        </p:nvSpPr>
        <p:spPr>
          <a:xfrm>
            <a:off x="6446520" y="37033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5" name="Text 33"/>
          <p:cNvSpPr/>
          <p:nvPr/>
        </p:nvSpPr>
        <p:spPr>
          <a:xfrm>
            <a:off x="7086600" y="3730752"/>
            <a:ext cx="4297680" cy="41148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Visualization</a:t>
            </a:r>
            <a:endParaRPr lang="en-US" sz="1500" dirty="0"/>
          </a:p>
        </p:txBody>
      </p:sp>
      <p:sp>
        <p:nvSpPr>
          <p:cNvPr id="36" name="Shape 34"/>
          <p:cNvSpPr/>
          <p:nvPr/>
        </p:nvSpPr>
        <p:spPr>
          <a:xfrm>
            <a:off x="6446520" y="4389120"/>
            <a:ext cx="137160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37" name="Text 35"/>
          <p:cNvSpPr/>
          <p:nvPr/>
        </p:nvSpPr>
        <p:spPr>
          <a:xfrm>
            <a:off x="6446520" y="4389120"/>
            <a:ext cx="137160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Matplotlib</a:t>
            </a:r>
            <a:endParaRPr lang="en-US" sz="1100" dirty="0"/>
          </a:p>
        </p:txBody>
      </p:sp>
      <p:sp>
        <p:nvSpPr>
          <p:cNvPr id="38" name="Shape 36"/>
          <p:cNvSpPr/>
          <p:nvPr/>
        </p:nvSpPr>
        <p:spPr>
          <a:xfrm>
            <a:off x="7955280" y="4389120"/>
            <a:ext cx="109728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39" name="Text 37"/>
          <p:cNvSpPr/>
          <p:nvPr/>
        </p:nvSpPr>
        <p:spPr>
          <a:xfrm>
            <a:off x="7955280" y="4389120"/>
            <a:ext cx="109728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Seaborn</a:t>
            </a:r>
            <a:endParaRPr lang="en-US" sz="1100" dirty="0"/>
          </a:p>
        </p:txBody>
      </p:sp>
      <p:sp>
        <p:nvSpPr>
          <p:cNvPr id="40" name="Shape 38"/>
          <p:cNvSpPr/>
          <p:nvPr/>
        </p:nvSpPr>
        <p:spPr>
          <a:xfrm>
            <a:off x="6446520" y="4892040"/>
            <a:ext cx="3108960" cy="384048"/>
          </a:xfrm>
          <a:prstGeom prst="roundRect">
            <a:avLst>
              <a:gd name="adj" fmla="val 50000"/>
            </a:avLst>
          </a:prstGeom>
          <a:solidFill>
            <a:srgbClr val="E4F3F1"/>
          </a:solidFill>
          <a:ln w="12700">
            <a:solidFill>
              <a:srgbClr val="00A896"/>
            </a:solidFill>
            <a:prstDash val="solid"/>
          </a:ln>
        </p:spPr>
        <p:txBody>
          <a:bodyPr/>
          <a:lstStyle/>
          <a:p>
            <a:endParaRPr lang="en-US"/>
          </a:p>
        </p:txBody>
      </p:sp>
      <p:sp>
        <p:nvSpPr>
          <p:cNvPr id="41" name="Text 39"/>
          <p:cNvSpPr/>
          <p:nvPr/>
        </p:nvSpPr>
        <p:spPr>
          <a:xfrm>
            <a:off x="6446520" y="4892040"/>
            <a:ext cx="3108960" cy="38404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Power BI / Tableau (optional)</a:t>
            </a:r>
            <a:endParaRPr lang="en-US" sz="1100" dirty="0"/>
          </a:p>
        </p:txBody>
      </p:sp>
      <p:sp>
        <p:nvSpPr>
          <p:cNvPr id="42" name="Shape 40"/>
          <p:cNvSpPr/>
          <p:nvPr/>
        </p:nvSpPr>
        <p:spPr>
          <a:xfrm>
            <a:off x="548640" y="5669280"/>
            <a:ext cx="11064240" cy="685800"/>
          </a:xfrm>
          <a:prstGeom prst="roundRect">
            <a:avLst>
              <a:gd name="adj" fmla="val 10667"/>
            </a:avLst>
          </a:prstGeom>
          <a:solidFill>
            <a:srgbClr val="0E4B57"/>
          </a:solidFill>
          <a:ln/>
        </p:spPr>
        <p:txBody>
          <a:bodyPr/>
          <a:lstStyle/>
          <a:p>
            <a:endParaRPr lang="en-US"/>
          </a:p>
        </p:txBody>
      </p:sp>
      <p:sp>
        <p:nvSpPr>
          <p:cNvPr id="43" name="Text 41"/>
          <p:cNvSpPr/>
          <p:nvPr/>
        </p:nvSpPr>
        <p:spPr>
          <a:xfrm>
            <a:off x="822960" y="5669280"/>
            <a:ext cx="1920240" cy="685800"/>
          </a:xfrm>
          <a:prstGeom prst="rect">
            <a:avLst/>
          </a:prstGeom>
          <a:noFill/>
          <a:ln/>
        </p:spPr>
        <p:txBody>
          <a:bodyPr wrap="square" lIns="0" tIns="0" rIns="0" bIns="0" rtlCol="0" anchor="ctr"/>
          <a:lstStyle/>
          <a:p>
            <a:pPr marL="0" indent="0" algn="l">
              <a:buNone/>
            </a:pPr>
            <a:r>
              <a:rPr lang="en-US" sz="1100" b="1" dirty="0">
                <a:solidFill>
                  <a:srgbClr val="02C39A"/>
                </a:solidFill>
                <a:latin typeface="Calibri" pitchFamily="34" charset="0"/>
                <a:ea typeface="Calibri" pitchFamily="34" charset="-122"/>
                <a:cs typeface="Calibri" pitchFamily="34" charset="-120"/>
              </a:rPr>
              <a:t>DATA SOURCES:  </a:t>
            </a:r>
            <a:endParaRPr lang="en-US" sz="1100" dirty="0"/>
          </a:p>
        </p:txBody>
      </p:sp>
      <p:sp>
        <p:nvSpPr>
          <p:cNvPr id="44" name="Text 42"/>
          <p:cNvSpPr/>
          <p:nvPr/>
        </p:nvSpPr>
        <p:spPr>
          <a:xfrm>
            <a:off x="2651760" y="5669280"/>
            <a:ext cx="8778240" cy="685800"/>
          </a:xfrm>
          <a:prstGeom prst="rect">
            <a:avLst/>
          </a:prstGeom>
          <a:noFill/>
          <a:ln/>
        </p:spPr>
        <p:txBody>
          <a:bodyPr wrap="square" lIns="0" tIns="0" rIns="0" bIns="0"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World Bank   •   WHO   •   Our World in Data   •   United Nations   •   World Happiness Report</a:t>
            </a:r>
            <a:endParaRPr lang="en-US" sz="1200" dirty="0"/>
          </a:p>
        </p:txBody>
      </p:sp>
      <p:sp>
        <p:nvSpPr>
          <p:cNvPr id="45" name="Text 43"/>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46" name="Text 4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08</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Expected Outcomes</a:t>
            </a:r>
            <a:endParaRPr lang="en-US" sz="3000" dirty="0"/>
          </a:p>
        </p:txBody>
      </p:sp>
      <p:sp>
        <p:nvSpPr>
          <p:cNvPr id="4" name="Shape 2"/>
          <p:cNvSpPr/>
          <p:nvPr/>
        </p:nvSpPr>
        <p:spPr>
          <a:xfrm>
            <a:off x="548640" y="1417320"/>
            <a:ext cx="2651760" cy="1965960"/>
          </a:xfrm>
          <a:prstGeom prst="roundRect">
            <a:avLst>
              <a:gd name="adj" fmla="val 372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5" name="Shape 3"/>
          <p:cNvSpPr/>
          <p:nvPr/>
        </p:nvSpPr>
        <p:spPr>
          <a:xfrm>
            <a:off x="731520" y="1600200"/>
            <a:ext cx="365760" cy="365760"/>
          </a:xfrm>
          <a:prstGeom prst="ellipse">
            <a:avLst/>
          </a:prstGeom>
          <a:solidFill>
            <a:srgbClr val="028090"/>
          </a:solidFill>
          <a:ln/>
        </p:spPr>
        <p:txBody>
          <a:bodyPr/>
          <a:lstStyle/>
          <a:p>
            <a:endParaRPr lang="en-US"/>
          </a:p>
        </p:txBody>
      </p:sp>
      <p:sp>
        <p:nvSpPr>
          <p:cNvPr id="6" name="Text 4"/>
          <p:cNvSpPr/>
          <p:nvPr/>
        </p:nvSpPr>
        <p:spPr>
          <a:xfrm>
            <a:off x="731520" y="1600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731520" y="2103120"/>
            <a:ext cx="2286000" cy="457200"/>
          </a:xfrm>
          <a:prstGeom prst="rect">
            <a:avLst/>
          </a:prstGeom>
          <a:noFill/>
          <a:ln/>
        </p:spPr>
        <p:txBody>
          <a:bodyPr wrap="square" lIns="0" tIns="0" rIns="0" bIns="0" rtlCol="0" anchor="ctr"/>
          <a:lstStyle/>
          <a:p>
            <a:pPr marL="0" indent="0">
              <a:lnSpc>
                <a:spcPct val="102000"/>
              </a:lnSpc>
              <a:buNone/>
            </a:pPr>
            <a:r>
              <a:rPr lang="en-US" sz="1250" b="1" dirty="0">
                <a:solidFill>
                  <a:srgbClr val="1B3A4B"/>
                </a:solidFill>
                <a:latin typeface="Calibri" pitchFamily="34" charset="0"/>
                <a:ea typeface="Calibri" pitchFamily="34" charset="-122"/>
                <a:cs typeface="Calibri" pitchFamily="34" charset="-120"/>
              </a:rPr>
              <a:t>Economic Insights</a:t>
            </a:r>
            <a:endParaRPr lang="en-US" sz="1250" dirty="0"/>
          </a:p>
        </p:txBody>
      </p:sp>
      <p:sp>
        <p:nvSpPr>
          <p:cNvPr id="8" name="Text 6"/>
          <p:cNvSpPr/>
          <p:nvPr/>
        </p:nvSpPr>
        <p:spPr>
          <a:xfrm>
            <a:off x="731520" y="2532888"/>
            <a:ext cx="2286000" cy="777240"/>
          </a:xfrm>
          <a:prstGeom prst="rect">
            <a:avLst/>
          </a:prstGeom>
          <a:noFill/>
          <a:ln/>
        </p:spPr>
        <p:txBody>
          <a:bodyPr wrap="square" lIns="0" tIns="0" rIns="0" bIns="0" rtlCol="0" anchor="t"/>
          <a:lstStyle/>
          <a:p>
            <a:pPr marL="0" indent="0">
              <a:lnSpc>
                <a:spcPct val="108000"/>
              </a:lnSpc>
              <a:buNone/>
            </a:pPr>
            <a:r>
              <a:rPr lang="en-US" sz="1000" dirty="0">
                <a:solidFill>
                  <a:srgbClr val="5B6E70"/>
                </a:solidFill>
                <a:latin typeface="Calibri" pitchFamily="34" charset="0"/>
                <a:ea typeface="Calibri" pitchFamily="34" charset="-122"/>
                <a:cs typeface="Calibri" pitchFamily="34" charset="-120"/>
              </a:rPr>
              <a:t>Understand the relationship between GDP and quality-of-life indicators</a:t>
            </a:r>
            <a:endParaRPr lang="en-US" sz="1000" dirty="0"/>
          </a:p>
        </p:txBody>
      </p:sp>
      <p:sp>
        <p:nvSpPr>
          <p:cNvPr id="9" name="Shape 7"/>
          <p:cNvSpPr/>
          <p:nvPr/>
        </p:nvSpPr>
        <p:spPr>
          <a:xfrm>
            <a:off x="3346704" y="1417320"/>
            <a:ext cx="2651760" cy="1965960"/>
          </a:xfrm>
          <a:prstGeom prst="roundRect">
            <a:avLst>
              <a:gd name="adj" fmla="val 372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10" name="Shape 8"/>
          <p:cNvSpPr/>
          <p:nvPr/>
        </p:nvSpPr>
        <p:spPr>
          <a:xfrm>
            <a:off x="3529584" y="1600200"/>
            <a:ext cx="365760" cy="365760"/>
          </a:xfrm>
          <a:prstGeom prst="ellipse">
            <a:avLst/>
          </a:prstGeom>
          <a:solidFill>
            <a:srgbClr val="00A896"/>
          </a:solidFill>
          <a:ln/>
        </p:spPr>
        <p:txBody>
          <a:bodyPr/>
          <a:lstStyle/>
          <a:p>
            <a:endParaRPr lang="en-US"/>
          </a:p>
        </p:txBody>
      </p:sp>
      <p:sp>
        <p:nvSpPr>
          <p:cNvPr id="11" name="Text 9"/>
          <p:cNvSpPr/>
          <p:nvPr/>
        </p:nvSpPr>
        <p:spPr>
          <a:xfrm>
            <a:off x="3529584" y="1600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3529584" y="2103120"/>
            <a:ext cx="2286000" cy="457200"/>
          </a:xfrm>
          <a:prstGeom prst="rect">
            <a:avLst/>
          </a:prstGeom>
          <a:noFill/>
          <a:ln/>
        </p:spPr>
        <p:txBody>
          <a:bodyPr wrap="square" lIns="0" tIns="0" rIns="0" bIns="0" rtlCol="0" anchor="ctr"/>
          <a:lstStyle/>
          <a:p>
            <a:pPr marL="0" indent="0">
              <a:lnSpc>
                <a:spcPct val="102000"/>
              </a:lnSpc>
              <a:buNone/>
            </a:pPr>
            <a:r>
              <a:rPr lang="en-US" sz="1250" b="1" dirty="0">
                <a:solidFill>
                  <a:srgbClr val="1B3A4B"/>
                </a:solidFill>
                <a:latin typeface="Calibri" pitchFamily="34" charset="0"/>
                <a:ea typeface="Calibri" pitchFamily="34" charset="-122"/>
                <a:cs typeface="Calibri" pitchFamily="34" charset="-120"/>
              </a:rPr>
              <a:t>Health Insights</a:t>
            </a:r>
            <a:endParaRPr lang="en-US" sz="1250" dirty="0"/>
          </a:p>
        </p:txBody>
      </p:sp>
      <p:sp>
        <p:nvSpPr>
          <p:cNvPr id="13" name="Text 11"/>
          <p:cNvSpPr/>
          <p:nvPr/>
        </p:nvSpPr>
        <p:spPr>
          <a:xfrm>
            <a:off x="3529584" y="2532888"/>
            <a:ext cx="2286000" cy="777240"/>
          </a:xfrm>
          <a:prstGeom prst="rect">
            <a:avLst/>
          </a:prstGeom>
          <a:noFill/>
          <a:ln/>
        </p:spPr>
        <p:txBody>
          <a:bodyPr wrap="square" lIns="0" tIns="0" rIns="0" bIns="0" rtlCol="0" anchor="t"/>
          <a:lstStyle/>
          <a:p>
            <a:pPr marL="0" indent="0">
              <a:lnSpc>
                <a:spcPct val="108000"/>
              </a:lnSpc>
              <a:buNone/>
            </a:pPr>
            <a:r>
              <a:rPr lang="en-US" sz="1000" dirty="0">
                <a:solidFill>
                  <a:srgbClr val="5B6E70"/>
                </a:solidFill>
                <a:latin typeface="Calibri" pitchFamily="34" charset="0"/>
                <a:ea typeface="Calibri" pitchFamily="34" charset="-122"/>
                <a:cs typeface="Calibri" pitchFamily="34" charset="-120"/>
              </a:rPr>
              <a:t>Identify patterns between economic/social conditions and health outcomes</a:t>
            </a:r>
            <a:endParaRPr lang="en-US" sz="1000" dirty="0"/>
          </a:p>
        </p:txBody>
      </p:sp>
      <p:sp>
        <p:nvSpPr>
          <p:cNvPr id="14" name="Shape 12"/>
          <p:cNvSpPr/>
          <p:nvPr/>
        </p:nvSpPr>
        <p:spPr>
          <a:xfrm>
            <a:off x="6144768" y="1417320"/>
            <a:ext cx="2651760" cy="1965960"/>
          </a:xfrm>
          <a:prstGeom prst="roundRect">
            <a:avLst>
              <a:gd name="adj" fmla="val 372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15" name="Shape 13"/>
          <p:cNvSpPr/>
          <p:nvPr/>
        </p:nvSpPr>
        <p:spPr>
          <a:xfrm>
            <a:off x="6327648" y="1600200"/>
            <a:ext cx="365760" cy="365760"/>
          </a:xfrm>
          <a:prstGeom prst="ellipse">
            <a:avLst/>
          </a:prstGeom>
          <a:solidFill>
            <a:srgbClr val="028090"/>
          </a:solidFill>
          <a:ln/>
        </p:spPr>
        <p:txBody>
          <a:bodyPr/>
          <a:lstStyle/>
          <a:p>
            <a:endParaRPr lang="en-US"/>
          </a:p>
        </p:txBody>
      </p:sp>
      <p:sp>
        <p:nvSpPr>
          <p:cNvPr id="16" name="Text 14"/>
          <p:cNvSpPr/>
          <p:nvPr/>
        </p:nvSpPr>
        <p:spPr>
          <a:xfrm>
            <a:off x="6327648" y="1600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6327648" y="2103120"/>
            <a:ext cx="2286000" cy="457200"/>
          </a:xfrm>
          <a:prstGeom prst="rect">
            <a:avLst/>
          </a:prstGeom>
          <a:noFill/>
          <a:ln/>
        </p:spPr>
        <p:txBody>
          <a:bodyPr wrap="square" lIns="0" tIns="0" rIns="0" bIns="0" rtlCol="0" anchor="ctr"/>
          <a:lstStyle/>
          <a:p>
            <a:pPr marL="0" indent="0">
              <a:lnSpc>
                <a:spcPct val="102000"/>
              </a:lnSpc>
              <a:buNone/>
            </a:pPr>
            <a:r>
              <a:rPr lang="en-US" sz="1250" b="1" dirty="0">
                <a:solidFill>
                  <a:srgbClr val="1B3A4B"/>
                </a:solidFill>
                <a:latin typeface="Calibri" pitchFamily="34" charset="0"/>
                <a:ea typeface="Calibri" pitchFamily="34" charset="-122"/>
                <a:cs typeface="Calibri" pitchFamily="34" charset="-120"/>
              </a:rPr>
              <a:t>Environmental Insights</a:t>
            </a:r>
            <a:endParaRPr lang="en-US" sz="1250" dirty="0"/>
          </a:p>
        </p:txBody>
      </p:sp>
      <p:sp>
        <p:nvSpPr>
          <p:cNvPr id="18" name="Text 16"/>
          <p:cNvSpPr/>
          <p:nvPr/>
        </p:nvSpPr>
        <p:spPr>
          <a:xfrm>
            <a:off x="6327648" y="2532888"/>
            <a:ext cx="2286000" cy="777240"/>
          </a:xfrm>
          <a:prstGeom prst="rect">
            <a:avLst/>
          </a:prstGeom>
          <a:noFill/>
          <a:ln/>
        </p:spPr>
        <p:txBody>
          <a:bodyPr wrap="square" lIns="0" tIns="0" rIns="0" bIns="0" rtlCol="0" anchor="t"/>
          <a:lstStyle/>
          <a:p>
            <a:pPr marL="0" indent="0">
              <a:lnSpc>
                <a:spcPct val="108000"/>
              </a:lnSpc>
              <a:buNone/>
            </a:pPr>
            <a:r>
              <a:rPr lang="en-US" sz="1000" dirty="0">
                <a:solidFill>
                  <a:srgbClr val="5B6E70"/>
                </a:solidFill>
                <a:latin typeface="Calibri" pitchFamily="34" charset="0"/>
                <a:ea typeface="Calibri" pitchFamily="34" charset="-122"/>
                <a:cs typeface="Calibri" pitchFamily="34" charset="-120"/>
              </a:rPr>
              <a:t>Analyze the relationship between economic development and environmental quality</a:t>
            </a:r>
            <a:endParaRPr lang="en-US" sz="1000" dirty="0"/>
          </a:p>
        </p:txBody>
      </p:sp>
      <p:sp>
        <p:nvSpPr>
          <p:cNvPr id="19" name="Shape 17"/>
          <p:cNvSpPr/>
          <p:nvPr/>
        </p:nvSpPr>
        <p:spPr>
          <a:xfrm>
            <a:off x="8942832" y="1417320"/>
            <a:ext cx="2651760" cy="1965960"/>
          </a:xfrm>
          <a:prstGeom prst="roundRect">
            <a:avLst>
              <a:gd name="adj" fmla="val 372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20" name="Shape 18"/>
          <p:cNvSpPr/>
          <p:nvPr/>
        </p:nvSpPr>
        <p:spPr>
          <a:xfrm>
            <a:off x="9125712" y="1600200"/>
            <a:ext cx="365760" cy="365760"/>
          </a:xfrm>
          <a:prstGeom prst="ellipse">
            <a:avLst/>
          </a:prstGeom>
          <a:solidFill>
            <a:srgbClr val="00A896"/>
          </a:solidFill>
          <a:ln/>
        </p:spPr>
        <p:txBody>
          <a:bodyPr/>
          <a:lstStyle/>
          <a:p>
            <a:endParaRPr lang="en-US"/>
          </a:p>
        </p:txBody>
      </p:sp>
      <p:sp>
        <p:nvSpPr>
          <p:cNvPr id="21" name="Text 19"/>
          <p:cNvSpPr/>
          <p:nvPr/>
        </p:nvSpPr>
        <p:spPr>
          <a:xfrm>
            <a:off x="9125712" y="1600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9125712" y="2103120"/>
            <a:ext cx="2286000" cy="457200"/>
          </a:xfrm>
          <a:prstGeom prst="rect">
            <a:avLst/>
          </a:prstGeom>
          <a:noFill/>
          <a:ln/>
        </p:spPr>
        <p:txBody>
          <a:bodyPr wrap="square" lIns="0" tIns="0" rIns="0" bIns="0" rtlCol="0" anchor="ctr"/>
          <a:lstStyle/>
          <a:p>
            <a:pPr marL="0" indent="0">
              <a:lnSpc>
                <a:spcPct val="102000"/>
              </a:lnSpc>
              <a:buNone/>
            </a:pPr>
            <a:r>
              <a:rPr lang="en-US" sz="1250" b="1" dirty="0">
                <a:solidFill>
                  <a:srgbClr val="1B3A4B"/>
                </a:solidFill>
                <a:latin typeface="Calibri" pitchFamily="34" charset="0"/>
                <a:ea typeface="Calibri" pitchFamily="34" charset="-122"/>
                <a:cs typeface="Calibri" pitchFamily="34" charset="-120"/>
              </a:rPr>
              <a:t>Social Insights</a:t>
            </a:r>
            <a:endParaRPr lang="en-US" sz="1250" dirty="0"/>
          </a:p>
        </p:txBody>
      </p:sp>
      <p:sp>
        <p:nvSpPr>
          <p:cNvPr id="23" name="Text 21"/>
          <p:cNvSpPr/>
          <p:nvPr/>
        </p:nvSpPr>
        <p:spPr>
          <a:xfrm>
            <a:off x="9125712" y="2532888"/>
            <a:ext cx="2286000" cy="777240"/>
          </a:xfrm>
          <a:prstGeom prst="rect">
            <a:avLst/>
          </a:prstGeom>
          <a:noFill/>
          <a:ln/>
        </p:spPr>
        <p:txBody>
          <a:bodyPr wrap="square" lIns="0" tIns="0" rIns="0" bIns="0" rtlCol="0" anchor="t"/>
          <a:lstStyle/>
          <a:p>
            <a:pPr marL="0" indent="0">
              <a:lnSpc>
                <a:spcPct val="108000"/>
              </a:lnSpc>
              <a:buNone/>
            </a:pPr>
            <a:r>
              <a:rPr lang="en-US" sz="1000" dirty="0">
                <a:solidFill>
                  <a:srgbClr val="5B6E70"/>
                </a:solidFill>
                <a:latin typeface="Calibri" pitchFamily="34" charset="0"/>
                <a:ea typeface="Calibri" pitchFamily="34" charset="-122"/>
                <a:cs typeface="Calibri" pitchFamily="34" charset="-120"/>
              </a:rPr>
              <a:t>Understand education, employment and internet-access relationships</a:t>
            </a:r>
            <a:endParaRPr lang="en-US" sz="1000" dirty="0"/>
          </a:p>
        </p:txBody>
      </p:sp>
      <p:sp>
        <p:nvSpPr>
          <p:cNvPr id="24" name="Shape 22"/>
          <p:cNvSpPr/>
          <p:nvPr/>
        </p:nvSpPr>
        <p:spPr>
          <a:xfrm>
            <a:off x="548640" y="3566160"/>
            <a:ext cx="2651760" cy="1965960"/>
          </a:xfrm>
          <a:prstGeom prst="roundRect">
            <a:avLst>
              <a:gd name="adj" fmla="val 372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25" name="Shape 23"/>
          <p:cNvSpPr/>
          <p:nvPr/>
        </p:nvSpPr>
        <p:spPr>
          <a:xfrm>
            <a:off x="731520" y="3749040"/>
            <a:ext cx="365760" cy="365760"/>
          </a:xfrm>
          <a:prstGeom prst="ellipse">
            <a:avLst/>
          </a:prstGeom>
          <a:solidFill>
            <a:srgbClr val="028090"/>
          </a:solidFill>
          <a:ln/>
        </p:spPr>
        <p:txBody>
          <a:bodyPr/>
          <a:lstStyle/>
          <a:p>
            <a:endParaRPr lang="en-US"/>
          </a:p>
        </p:txBody>
      </p:sp>
      <p:sp>
        <p:nvSpPr>
          <p:cNvPr id="26" name="Text 24"/>
          <p:cNvSpPr/>
          <p:nvPr/>
        </p:nvSpPr>
        <p:spPr>
          <a:xfrm>
            <a:off x="731520" y="37490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p:nvPr/>
        </p:nvSpPr>
        <p:spPr>
          <a:xfrm>
            <a:off x="731520" y="4251960"/>
            <a:ext cx="2286000" cy="457200"/>
          </a:xfrm>
          <a:prstGeom prst="rect">
            <a:avLst/>
          </a:prstGeom>
          <a:noFill/>
          <a:ln/>
        </p:spPr>
        <p:txBody>
          <a:bodyPr wrap="square" lIns="0" tIns="0" rIns="0" bIns="0" rtlCol="0" anchor="ctr"/>
          <a:lstStyle/>
          <a:p>
            <a:pPr marL="0" indent="0">
              <a:lnSpc>
                <a:spcPct val="102000"/>
              </a:lnSpc>
              <a:buNone/>
            </a:pPr>
            <a:r>
              <a:rPr lang="en-US" sz="1250" b="1" dirty="0">
                <a:solidFill>
                  <a:srgbClr val="1B3A4B"/>
                </a:solidFill>
                <a:latin typeface="Calibri" pitchFamily="34" charset="0"/>
                <a:ea typeface="Calibri" pitchFamily="34" charset="-122"/>
                <a:cs typeface="Calibri" pitchFamily="34" charset="-120"/>
              </a:rPr>
              <a:t>Trade-off Findings</a:t>
            </a:r>
            <a:endParaRPr lang="en-US" sz="1250" dirty="0"/>
          </a:p>
        </p:txBody>
      </p:sp>
      <p:sp>
        <p:nvSpPr>
          <p:cNvPr id="28" name="Text 26"/>
          <p:cNvSpPr/>
          <p:nvPr/>
        </p:nvSpPr>
        <p:spPr>
          <a:xfrm>
            <a:off x="731520" y="4681728"/>
            <a:ext cx="2286000" cy="777240"/>
          </a:xfrm>
          <a:prstGeom prst="rect">
            <a:avLst/>
          </a:prstGeom>
          <a:noFill/>
          <a:ln/>
        </p:spPr>
        <p:txBody>
          <a:bodyPr wrap="square" lIns="0" tIns="0" rIns="0" bIns="0" rtlCol="0" anchor="t"/>
          <a:lstStyle/>
          <a:p>
            <a:pPr marL="0" indent="0">
              <a:lnSpc>
                <a:spcPct val="108000"/>
              </a:lnSpc>
              <a:buNone/>
            </a:pPr>
            <a:r>
              <a:rPr lang="en-US" sz="1000" dirty="0">
                <a:solidFill>
                  <a:srgbClr val="5B6E70"/>
                </a:solidFill>
                <a:latin typeface="Calibri" pitchFamily="34" charset="0"/>
                <a:ea typeface="Calibri" pitchFamily="34" charset="-122"/>
                <a:cs typeface="Calibri" pitchFamily="34" charset="-120"/>
              </a:rPr>
              <a:t>Identify economic–environmental trade-offs across countries</a:t>
            </a:r>
            <a:endParaRPr lang="en-US" sz="1000" dirty="0"/>
          </a:p>
        </p:txBody>
      </p:sp>
      <p:sp>
        <p:nvSpPr>
          <p:cNvPr id="29" name="Shape 27"/>
          <p:cNvSpPr/>
          <p:nvPr/>
        </p:nvSpPr>
        <p:spPr>
          <a:xfrm>
            <a:off x="3346704" y="3566160"/>
            <a:ext cx="2651760" cy="1965960"/>
          </a:xfrm>
          <a:prstGeom prst="roundRect">
            <a:avLst>
              <a:gd name="adj" fmla="val 372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30" name="Shape 28"/>
          <p:cNvSpPr/>
          <p:nvPr/>
        </p:nvSpPr>
        <p:spPr>
          <a:xfrm>
            <a:off x="3529584" y="3749040"/>
            <a:ext cx="365760" cy="365760"/>
          </a:xfrm>
          <a:prstGeom prst="ellipse">
            <a:avLst/>
          </a:prstGeom>
          <a:solidFill>
            <a:srgbClr val="00A896"/>
          </a:solidFill>
          <a:ln/>
        </p:spPr>
        <p:txBody>
          <a:bodyPr/>
          <a:lstStyle/>
          <a:p>
            <a:endParaRPr lang="en-US"/>
          </a:p>
        </p:txBody>
      </p:sp>
      <p:sp>
        <p:nvSpPr>
          <p:cNvPr id="31" name="Text 29"/>
          <p:cNvSpPr/>
          <p:nvPr/>
        </p:nvSpPr>
        <p:spPr>
          <a:xfrm>
            <a:off x="3529584" y="37490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p:nvPr/>
        </p:nvSpPr>
        <p:spPr>
          <a:xfrm>
            <a:off x="3529584" y="4251960"/>
            <a:ext cx="2286000" cy="457200"/>
          </a:xfrm>
          <a:prstGeom prst="rect">
            <a:avLst/>
          </a:prstGeom>
          <a:noFill/>
          <a:ln/>
        </p:spPr>
        <p:txBody>
          <a:bodyPr wrap="square" lIns="0" tIns="0" rIns="0" bIns="0" rtlCol="0" anchor="ctr"/>
          <a:lstStyle/>
          <a:p>
            <a:pPr marL="0" indent="0">
              <a:lnSpc>
                <a:spcPct val="102000"/>
              </a:lnSpc>
              <a:buNone/>
            </a:pPr>
            <a:r>
              <a:rPr lang="en-US" sz="1250" b="1" dirty="0">
                <a:solidFill>
                  <a:srgbClr val="1B3A4B"/>
                </a:solidFill>
                <a:latin typeface="Calibri" pitchFamily="34" charset="0"/>
                <a:ea typeface="Calibri" pitchFamily="34" charset="-122"/>
                <a:cs typeface="Calibri" pitchFamily="34" charset="-120"/>
              </a:rPr>
              <a:t>Outlier Countries</a:t>
            </a:r>
            <a:endParaRPr lang="en-US" sz="1250" dirty="0"/>
          </a:p>
        </p:txBody>
      </p:sp>
      <p:sp>
        <p:nvSpPr>
          <p:cNvPr id="33" name="Text 31"/>
          <p:cNvSpPr/>
          <p:nvPr/>
        </p:nvSpPr>
        <p:spPr>
          <a:xfrm>
            <a:off x="3529584" y="4681728"/>
            <a:ext cx="2286000" cy="777240"/>
          </a:xfrm>
          <a:prstGeom prst="rect">
            <a:avLst/>
          </a:prstGeom>
          <a:noFill/>
          <a:ln/>
        </p:spPr>
        <p:txBody>
          <a:bodyPr wrap="square" lIns="0" tIns="0" rIns="0" bIns="0" rtlCol="0" anchor="t"/>
          <a:lstStyle/>
          <a:p>
            <a:pPr marL="0" indent="0">
              <a:lnSpc>
                <a:spcPct val="108000"/>
              </a:lnSpc>
              <a:buNone/>
            </a:pPr>
            <a:r>
              <a:rPr lang="en-US" sz="1000" dirty="0">
                <a:solidFill>
                  <a:srgbClr val="5B6E70"/>
                </a:solidFill>
                <a:latin typeface="Calibri" pitchFamily="34" charset="0"/>
                <a:ea typeface="Calibri" pitchFamily="34" charset="-122"/>
                <a:cs typeface="Calibri" pitchFamily="34" charset="-120"/>
              </a:rPr>
              <a:t>Find countries that perform unexpectedly relative to their economic level</a:t>
            </a:r>
            <a:endParaRPr lang="en-US" sz="1000" dirty="0"/>
          </a:p>
        </p:txBody>
      </p:sp>
      <p:sp>
        <p:nvSpPr>
          <p:cNvPr id="34" name="Shape 32"/>
          <p:cNvSpPr/>
          <p:nvPr/>
        </p:nvSpPr>
        <p:spPr>
          <a:xfrm>
            <a:off x="6144768" y="3566160"/>
            <a:ext cx="2651760" cy="1965960"/>
          </a:xfrm>
          <a:prstGeom prst="roundRect">
            <a:avLst>
              <a:gd name="adj" fmla="val 372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35" name="Shape 33"/>
          <p:cNvSpPr/>
          <p:nvPr/>
        </p:nvSpPr>
        <p:spPr>
          <a:xfrm>
            <a:off x="6327648" y="3749040"/>
            <a:ext cx="365760" cy="365760"/>
          </a:xfrm>
          <a:prstGeom prst="ellipse">
            <a:avLst/>
          </a:prstGeom>
          <a:solidFill>
            <a:srgbClr val="028090"/>
          </a:solidFill>
          <a:ln/>
        </p:spPr>
        <p:txBody>
          <a:bodyPr/>
          <a:lstStyle/>
          <a:p>
            <a:endParaRPr lang="en-US"/>
          </a:p>
        </p:txBody>
      </p:sp>
      <p:sp>
        <p:nvSpPr>
          <p:cNvPr id="36" name="Text 34"/>
          <p:cNvSpPr/>
          <p:nvPr/>
        </p:nvSpPr>
        <p:spPr>
          <a:xfrm>
            <a:off x="6327648" y="37490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7" name="Text 35"/>
          <p:cNvSpPr/>
          <p:nvPr/>
        </p:nvSpPr>
        <p:spPr>
          <a:xfrm>
            <a:off x="6327648" y="4251960"/>
            <a:ext cx="2286000" cy="457200"/>
          </a:xfrm>
          <a:prstGeom prst="rect">
            <a:avLst/>
          </a:prstGeom>
          <a:noFill/>
          <a:ln/>
        </p:spPr>
        <p:txBody>
          <a:bodyPr wrap="square" lIns="0" tIns="0" rIns="0" bIns="0" rtlCol="0" anchor="ctr"/>
          <a:lstStyle/>
          <a:p>
            <a:pPr marL="0" indent="0">
              <a:lnSpc>
                <a:spcPct val="102000"/>
              </a:lnSpc>
              <a:buNone/>
            </a:pPr>
            <a:r>
              <a:rPr lang="en-US" sz="1250" b="1" dirty="0">
                <a:solidFill>
                  <a:srgbClr val="1B3A4B"/>
                </a:solidFill>
                <a:latin typeface="Calibri" pitchFamily="34" charset="0"/>
                <a:ea typeface="Calibri" pitchFamily="34" charset="-122"/>
                <a:cs typeface="Calibri" pitchFamily="34" charset="-120"/>
              </a:rPr>
              <a:t>Country Profiles</a:t>
            </a:r>
            <a:endParaRPr lang="en-US" sz="1250" dirty="0"/>
          </a:p>
        </p:txBody>
      </p:sp>
      <p:sp>
        <p:nvSpPr>
          <p:cNvPr id="38" name="Text 36"/>
          <p:cNvSpPr/>
          <p:nvPr/>
        </p:nvSpPr>
        <p:spPr>
          <a:xfrm>
            <a:off x="6327648" y="4681728"/>
            <a:ext cx="2286000" cy="777240"/>
          </a:xfrm>
          <a:prstGeom prst="rect">
            <a:avLst/>
          </a:prstGeom>
          <a:noFill/>
          <a:ln/>
        </p:spPr>
        <p:txBody>
          <a:bodyPr wrap="square" lIns="0" tIns="0" rIns="0" bIns="0" rtlCol="0" anchor="t"/>
          <a:lstStyle/>
          <a:p>
            <a:pPr marL="0" indent="0">
              <a:lnSpc>
                <a:spcPct val="108000"/>
              </a:lnSpc>
              <a:buNone/>
            </a:pPr>
            <a:r>
              <a:rPr lang="en-US" sz="1000" dirty="0">
                <a:solidFill>
                  <a:srgbClr val="5B6E70"/>
                </a:solidFill>
                <a:latin typeface="Calibri" pitchFamily="34" charset="0"/>
                <a:ea typeface="Calibri" pitchFamily="34" charset="-122"/>
                <a:cs typeface="Calibri" pitchFamily="34" charset="-120"/>
              </a:rPr>
              <a:t>Create multidimensional livability profiles for selected countries</a:t>
            </a:r>
            <a:endParaRPr lang="en-US" sz="1000" dirty="0"/>
          </a:p>
        </p:txBody>
      </p:sp>
      <p:sp>
        <p:nvSpPr>
          <p:cNvPr id="39" name="Shape 37"/>
          <p:cNvSpPr/>
          <p:nvPr/>
        </p:nvSpPr>
        <p:spPr>
          <a:xfrm>
            <a:off x="8942832" y="3566160"/>
            <a:ext cx="2651760" cy="1965960"/>
          </a:xfrm>
          <a:prstGeom prst="roundRect">
            <a:avLst>
              <a:gd name="adj" fmla="val 3721"/>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40" name="Shape 38"/>
          <p:cNvSpPr/>
          <p:nvPr/>
        </p:nvSpPr>
        <p:spPr>
          <a:xfrm>
            <a:off x="9125712" y="3749040"/>
            <a:ext cx="365760" cy="365760"/>
          </a:xfrm>
          <a:prstGeom prst="ellipse">
            <a:avLst/>
          </a:prstGeom>
          <a:solidFill>
            <a:srgbClr val="00A896"/>
          </a:solidFill>
          <a:ln/>
        </p:spPr>
        <p:txBody>
          <a:bodyPr/>
          <a:lstStyle/>
          <a:p>
            <a:endParaRPr lang="en-US"/>
          </a:p>
        </p:txBody>
      </p:sp>
      <p:sp>
        <p:nvSpPr>
          <p:cNvPr id="41" name="Text 39"/>
          <p:cNvSpPr/>
          <p:nvPr/>
        </p:nvSpPr>
        <p:spPr>
          <a:xfrm>
            <a:off x="9125712" y="37490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42" name="Text 40"/>
          <p:cNvSpPr/>
          <p:nvPr/>
        </p:nvSpPr>
        <p:spPr>
          <a:xfrm>
            <a:off x="9125712" y="4251960"/>
            <a:ext cx="2286000" cy="457200"/>
          </a:xfrm>
          <a:prstGeom prst="rect">
            <a:avLst/>
          </a:prstGeom>
          <a:noFill/>
          <a:ln/>
        </p:spPr>
        <p:txBody>
          <a:bodyPr wrap="square" lIns="0" tIns="0" rIns="0" bIns="0" rtlCol="0" anchor="ctr"/>
          <a:lstStyle/>
          <a:p>
            <a:pPr marL="0" indent="0">
              <a:lnSpc>
                <a:spcPct val="102000"/>
              </a:lnSpc>
              <a:buNone/>
            </a:pPr>
            <a:r>
              <a:rPr lang="en-US" sz="1250" b="1" dirty="0">
                <a:solidFill>
                  <a:srgbClr val="1B3A4B"/>
                </a:solidFill>
                <a:latin typeface="Calibri" pitchFamily="34" charset="0"/>
                <a:ea typeface="Calibri" pitchFamily="34" charset="-122"/>
                <a:cs typeface="Calibri" pitchFamily="34" charset="-120"/>
              </a:rPr>
              <a:t>Exploratory Index</a:t>
            </a:r>
            <a:endParaRPr lang="en-US" sz="1250" dirty="0"/>
          </a:p>
        </p:txBody>
      </p:sp>
      <p:sp>
        <p:nvSpPr>
          <p:cNvPr id="43" name="Text 41"/>
          <p:cNvSpPr/>
          <p:nvPr/>
        </p:nvSpPr>
        <p:spPr>
          <a:xfrm>
            <a:off x="9125712" y="4681728"/>
            <a:ext cx="2286000" cy="777240"/>
          </a:xfrm>
          <a:prstGeom prst="rect">
            <a:avLst/>
          </a:prstGeom>
          <a:noFill/>
          <a:ln/>
        </p:spPr>
        <p:txBody>
          <a:bodyPr wrap="square" lIns="0" tIns="0" rIns="0" bIns="0" rtlCol="0" anchor="t"/>
          <a:lstStyle/>
          <a:p>
            <a:pPr marL="0" indent="0">
              <a:lnSpc>
                <a:spcPct val="108000"/>
              </a:lnSpc>
              <a:buNone/>
            </a:pPr>
            <a:r>
              <a:rPr lang="en-US" sz="1000" dirty="0">
                <a:solidFill>
                  <a:srgbClr val="5B6E70"/>
                </a:solidFill>
                <a:latin typeface="Calibri" pitchFamily="34" charset="0"/>
                <a:ea typeface="Calibri" pitchFamily="34" charset="-122"/>
                <a:cs typeface="Calibri" pitchFamily="34" charset="-120"/>
              </a:rPr>
              <a:t>An optional composite measure created purely for visualization</a:t>
            </a:r>
            <a:endParaRPr lang="en-US" sz="1000" dirty="0"/>
          </a:p>
        </p:txBody>
      </p:sp>
      <p:sp>
        <p:nvSpPr>
          <p:cNvPr id="44" name="Shape 42"/>
          <p:cNvSpPr/>
          <p:nvPr/>
        </p:nvSpPr>
        <p:spPr>
          <a:xfrm>
            <a:off x="548640" y="5623560"/>
            <a:ext cx="11064240" cy="777240"/>
          </a:xfrm>
          <a:prstGeom prst="roundRect">
            <a:avLst>
              <a:gd name="adj" fmla="val 9412"/>
            </a:avLst>
          </a:prstGeom>
          <a:solidFill>
            <a:srgbClr val="0E4B57"/>
          </a:solidFill>
          <a:ln/>
        </p:spPr>
        <p:txBody>
          <a:bodyPr/>
          <a:lstStyle/>
          <a:p>
            <a:endParaRPr lang="en-US"/>
          </a:p>
        </p:txBody>
      </p:sp>
      <p:sp>
        <p:nvSpPr>
          <p:cNvPr id="45" name="Text 43"/>
          <p:cNvSpPr/>
          <p:nvPr/>
        </p:nvSpPr>
        <p:spPr>
          <a:xfrm>
            <a:off x="868680" y="5623560"/>
            <a:ext cx="10424160" cy="777240"/>
          </a:xfrm>
          <a:prstGeom prst="rect">
            <a:avLst/>
          </a:prstGeom>
          <a:noFill/>
          <a:ln/>
        </p:spPr>
        <p:txBody>
          <a:bodyPr wrap="square" lIns="0" tIns="0" rIns="0" bIns="0" rtlCol="0" anchor="ctr"/>
          <a:lstStyle/>
          <a:p>
            <a:pPr marL="0" indent="0">
              <a:lnSpc>
                <a:spcPct val="108000"/>
              </a:lnSpc>
              <a:buNone/>
            </a:pPr>
            <a:r>
              <a:rPr lang="en-US" sz="1250" b="1" dirty="0">
                <a:solidFill>
                  <a:srgbClr val="02C39A"/>
                </a:solidFill>
                <a:latin typeface="Calibri" pitchFamily="34" charset="0"/>
                <a:ea typeface="Calibri" pitchFamily="34" charset="-122"/>
                <a:cs typeface="Calibri" pitchFamily="34" charset="-120"/>
              </a:rPr>
              <a:t>Final Insight:  </a:t>
            </a:r>
            <a:r>
              <a:rPr lang="en-US" sz="1250" i="1" dirty="0">
                <a:solidFill>
                  <a:srgbClr val="FFFFFF"/>
                </a:solidFill>
                <a:latin typeface="Calibri" pitchFamily="34" charset="0"/>
                <a:ea typeface="Calibri" pitchFamily="34" charset="-122"/>
                <a:cs typeface="Calibri" pitchFamily="34" charset="-120"/>
              </a:rPr>
              <a:t>The project aims to answer the central question — “Is economic prosperity enough to make a country livable?”</a:t>
            </a:r>
            <a:endParaRPr lang="en-US" sz="1250" dirty="0"/>
          </a:p>
        </p:txBody>
      </p:sp>
      <p:sp>
        <p:nvSpPr>
          <p:cNvPr id="46" name="Text 44"/>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47" name="Text 45"/>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SECTION 09</a:t>
            </a:r>
            <a:endParaRPr lang="en-US" sz="1200" dirty="0"/>
          </a:p>
        </p:txBody>
      </p:sp>
      <p:sp>
        <p:nvSpPr>
          <p:cNvPr id="3" name="Text 1"/>
          <p:cNvSpPr/>
          <p:nvPr/>
        </p:nvSpPr>
        <p:spPr>
          <a:xfrm>
            <a:off x="548640" y="566928"/>
            <a:ext cx="11064240" cy="640080"/>
          </a:xfrm>
          <a:prstGeom prst="rect">
            <a:avLst/>
          </a:prstGeom>
          <a:noFill/>
          <a:ln/>
        </p:spPr>
        <p:txBody>
          <a:bodyPr wrap="square" lIns="0" tIns="0" rIns="0" bIns="0" rtlCol="0" anchor="ctr"/>
          <a:lstStyle/>
          <a:p>
            <a:pPr marL="0" indent="0">
              <a:buNone/>
            </a:pPr>
            <a:r>
              <a:rPr lang="en-US" sz="3000" b="1" dirty="0">
                <a:solidFill>
                  <a:srgbClr val="1B3A4B"/>
                </a:solidFill>
                <a:latin typeface="Cambria" pitchFamily="34" charset="0"/>
                <a:ea typeface="Cambria" pitchFamily="34" charset="-122"/>
                <a:cs typeface="Cambria" pitchFamily="34" charset="-120"/>
              </a:rPr>
              <a:t>References</a:t>
            </a:r>
            <a:endParaRPr lang="en-US" sz="3000" dirty="0"/>
          </a:p>
        </p:txBody>
      </p:sp>
      <p:sp>
        <p:nvSpPr>
          <p:cNvPr id="4" name="Shape 2"/>
          <p:cNvSpPr/>
          <p:nvPr/>
        </p:nvSpPr>
        <p:spPr>
          <a:xfrm>
            <a:off x="548640" y="1463040"/>
            <a:ext cx="11064240" cy="841248"/>
          </a:xfrm>
          <a:prstGeom prst="roundRect">
            <a:avLst>
              <a:gd name="adj" fmla="val 8696"/>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5" name="Shape 3"/>
          <p:cNvSpPr/>
          <p:nvPr/>
        </p:nvSpPr>
        <p:spPr>
          <a:xfrm>
            <a:off x="749808" y="1709928"/>
            <a:ext cx="347472" cy="347472"/>
          </a:xfrm>
          <a:prstGeom prst="ellipse">
            <a:avLst/>
          </a:prstGeom>
          <a:solidFill>
            <a:srgbClr val="028090"/>
          </a:solidFill>
          <a:ln/>
        </p:spPr>
        <p:txBody>
          <a:bodyPr/>
          <a:lstStyle/>
          <a:p>
            <a:endParaRPr lang="en-US"/>
          </a:p>
        </p:txBody>
      </p:sp>
      <p:sp>
        <p:nvSpPr>
          <p:cNvPr id="6" name="Text 4"/>
          <p:cNvSpPr/>
          <p:nvPr/>
        </p:nvSpPr>
        <p:spPr>
          <a:xfrm>
            <a:off x="749808" y="17099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280160" y="1554480"/>
            <a:ext cx="9966960" cy="274320"/>
          </a:xfrm>
          <a:prstGeom prst="rect">
            <a:avLst/>
          </a:prstGeom>
          <a:noFill/>
          <a:ln/>
        </p:spPr>
        <p:txBody>
          <a:bodyPr wrap="square" lIns="0" tIns="0" rIns="0" bIns="0" rtlCol="0" anchor="ctr"/>
          <a:lstStyle/>
          <a:p>
            <a:pPr marL="0" indent="0">
              <a:buNone/>
            </a:pPr>
            <a:r>
              <a:rPr lang="en-US" sz="1200" b="1" dirty="0">
                <a:solidFill>
                  <a:srgbClr val="1B3A4B"/>
                </a:solidFill>
                <a:latin typeface="Calibri" pitchFamily="34" charset="0"/>
                <a:ea typeface="Calibri" pitchFamily="34" charset="-122"/>
                <a:cs typeface="Calibri" pitchFamily="34" charset="-120"/>
              </a:rPr>
              <a:t>World Bank</a:t>
            </a:r>
            <a:endParaRPr lang="en-US" sz="1200" dirty="0"/>
          </a:p>
        </p:txBody>
      </p:sp>
      <p:sp>
        <p:nvSpPr>
          <p:cNvPr id="8" name="Text 6"/>
          <p:cNvSpPr/>
          <p:nvPr/>
        </p:nvSpPr>
        <p:spPr>
          <a:xfrm>
            <a:off x="1280160" y="1810512"/>
            <a:ext cx="9966960" cy="256032"/>
          </a:xfrm>
          <a:prstGeom prst="rect">
            <a:avLst/>
          </a:prstGeom>
          <a:noFill/>
          <a:ln/>
        </p:spPr>
        <p:txBody>
          <a:bodyPr wrap="square" lIns="0" tIns="0" rIns="0" bIns="0" rtlCol="0" anchor="ctr"/>
          <a:lstStyle/>
          <a:p>
            <a:pPr marL="0" indent="0">
              <a:buNone/>
            </a:pPr>
            <a:r>
              <a:rPr lang="en-US" sz="1050" i="1" dirty="0">
                <a:solidFill>
                  <a:srgbClr val="5B6E70"/>
                </a:solidFill>
                <a:latin typeface="Calibri" pitchFamily="34" charset="0"/>
                <a:ea typeface="Calibri" pitchFamily="34" charset="-122"/>
                <a:cs typeface="Calibri" pitchFamily="34" charset="-120"/>
              </a:rPr>
              <a:t>World Development Indicators (WDI)</a:t>
            </a:r>
            <a:endParaRPr lang="en-US" sz="1050" dirty="0"/>
          </a:p>
        </p:txBody>
      </p:sp>
      <p:sp>
        <p:nvSpPr>
          <p:cNvPr id="9" name="Text 7"/>
          <p:cNvSpPr/>
          <p:nvPr/>
        </p:nvSpPr>
        <p:spPr>
          <a:xfrm>
            <a:off x="1280160" y="2039112"/>
            <a:ext cx="9966960" cy="237744"/>
          </a:xfrm>
          <a:prstGeom prst="rect">
            <a:avLst/>
          </a:prstGeom>
          <a:noFill/>
          <a:ln/>
        </p:spPr>
        <p:txBody>
          <a:bodyPr wrap="square" lIns="0" tIns="0" rIns="0" bIns="0" rtlCol="0" anchor="ctr"/>
          <a:lstStyle/>
          <a:p>
            <a:pPr marL="0" indent="0">
              <a:buNone/>
            </a:pPr>
            <a:r>
              <a:rPr lang="en-US" sz="1000" dirty="0">
                <a:solidFill>
                  <a:srgbClr val="028090"/>
                </a:solidFill>
                <a:latin typeface="Calibri" pitchFamily="34" charset="0"/>
                <a:ea typeface="Calibri" pitchFamily="34" charset="-122"/>
                <a:cs typeface="Calibri" pitchFamily="34" charset="-120"/>
              </a:rPr>
              <a:t>https://databank.worldbank.org/source/world-development-indicators</a:t>
            </a:r>
            <a:endParaRPr lang="en-US" sz="1000" dirty="0"/>
          </a:p>
        </p:txBody>
      </p:sp>
      <p:sp>
        <p:nvSpPr>
          <p:cNvPr id="10" name="Shape 8"/>
          <p:cNvSpPr/>
          <p:nvPr/>
        </p:nvSpPr>
        <p:spPr>
          <a:xfrm>
            <a:off x="548640" y="2423160"/>
            <a:ext cx="11064240" cy="841248"/>
          </a:xfrm>
          <a:prstGeom prst="roundRect">
            <a:avLst>
              <a:gd name="adj" fmla="val 8696"/>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11" name="Shape 9"/>
          <p:cNvSpPr/>
          <p:nvPr/>
        </p:nvSpPr>
        <p:spPr>
          <a:xfrm>
            <a:off x="749808" y="2670048"/>
            <a:ext cx="347472" cy="347472"/>
          </a:xfrm>
          <a:prstGeom prst="ellipse">
            <a:avLst/>
          </a:prstGeom>
          <a:solidFill>
            <a:srgbClr val="028090"/>
          </a:solidFill>
          <a:ln/>
        </p:spPr>
        <p:txBody>
          <a:bodyPr/>
          <a:lstStyle/>
          <a:p>
            <a:endParaRPr lang="en-US"/>
          </a:p>
        </p:txBody>
      </p:sp>
      <p:sp>
        <p:nvSpPr>
          <p:cNvPr id="12" name="Text 10"/>
          <p:cNvSpPr/>
          <p:nvPr/>
        </p:nvSpPr>
        <p:spPr>
          <a:xfrm>
            <a:off x="749808" y="267004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280160" y="2514600"/>
            <a:ext cx="9966960" cy="274320"/>
          </a:xfrm>
          <a:prstGeom prst="rect">
            <a:avLst/>
          </a:prstGeom>
          <a:noFill/>
          <a:ln/>
        </p:spPr>
        <p:txBody>
          <a:bodyPr wrap="square" lIns="0" tIns="0" rIns="0" bIns="0" rtlCol="0" anchor="ctr"/>
          <a:lstStyle/>
          <a:p>
            <a:pPr marL="0" indent="0">
              <a:buNone/>
            </a:pPr>
            <a:r>
              <a:rPr lang="en-US" sz="1200" b="1" dirty="0">
                <a:solidFill>
                  <a:srgbClr val="1B3A4B"/>
                </a:solidFill>
                <a:latin typeface="Calibri" pitchFamily="34" charset="0"/>
                <a:ea typeface="Calibri" pitchFamily="34" charset="-122"/>
                <a:cs typeface="Calibri" pitchFamily="34" charset="-120"/>
              </a:rPr>
              <a:t>World Health Organization (WHO)</a:t>
            </a:r>
            <a:endParaRPr lang="en-US" sz="1200" dirty="0"/>
          </a:p>
        </p:txBody>
      </p:sp>
      <p:sp>
        <p:nvSpPr>
          <p:cNvPr id="14" name="Text 12"/>
          <p:cNvSpPr/>
          <p:nvPr/>
        </p:nvSpPr>
        <p:spPr>
          <a:xfrm>
            <a:off x="1280160" y="2770632"/>
            <a:ext cx="9966960" cy="256032"/>
          </a:xfrm>
          <a:prstGeom prst="rect">
            <a:avLst/>
          </a:prstGeom>
          <a:noFill/>
          <a:ln/>
        </p:spPr>
        <p:txBody>
          <a:bodyPr wrap="square" lIns="0" tIns="0" rIns="0" bIns="0" rtlCol="0" anchor="ctr"/>
          <a:lstStyle/>
          <a:p>
            <a:pPr marL="0" indent="0">
              <a:buNone/>
            </a:pPr>
            <a:r>
              <a:rPr lang="en-US" sz="1050" i="1" dirty="0">
                <a:solidFill>
                  <a:srgbClr val="5B6E70"/>
                </a:solidFill>
                <a:latin typeface="Calibri" pitchFamily="34" charset="0"/>
                <a:ea typeface="Calibri" pitchFamily="34" charset="-122"/>
                <a:cs typeface="Calibri" pitchFamily="34" charset="-120"/>
              </a:rPr>
              <a:t>Global Health Observatory (GHO) Data Repository</a:t>
            </a:r>
            <a:endParaRPr lang="en-US" sz="1050" dirty="0"/>
          </a:p>
        </p:txBody>
      </p:sp>
      <p:sp>
        <p:nvSpPr>
          <p:cNvPr id="15" name="Text 13"/>
          <p:cNvSpPr/>
          <p:nvPr/>
        </p:nvSpPr>
        <p:spPr>
          <a:xfrm>
            <a:off x="1280160" y="2999232"/>
            <a:ext cx="9966960" cy="237744"/>
          </a:xfrm>
          <a:prstGeom prst="rect">
            <a:avLst/>
          </a:prstGeom>
          <a:noFill/>
          <a:ln/>
        </p:spPr>
        <p:txBody>
          <a:bodyPr wrap="square" lIns="0" tIns="0" rIns="0" bIns="0" rtlCol="0" anchor="ctr"/>
          <a:lstStyle/>
          <a:p>
            <a:pPr marL="0" indent="0">
              <a:buNone/>
            </a:pPr>
            <a:r>
              <a:rPr lang="en-US" sz="1000" dirty="0">
                <a:solidFill>
                  <a:srgbClr val="028090"/>
                </a:solidFill>
                <a:latin typeface="Calibri" pitchFamily="34" charset="0"/>
                <a:ea typeface="Calibri" pitchFamily="34" charset="-122"/>
                <a:cs typeface="Calibri" pitchFamily="34" charset="-120"/>
              </a:rPr>
              <a:t>https://www.who.int/data/gho</a:t>
            </a:r>
            <a:endParaRPr lang="en-US" sz="1000" dirty="0"/>
          </a:p>
        </p:txBody>
      </p:sp>
      <p:sp>
        <p:nvSpPr>
          <p:cNvPr id="16" name="Shape 14"/>
          <p:cNvSpPr/>
          <p:nvPr/>
        </p:nvSpPr>
        <p:spPr>
          <a:xfrm>
            <a:off x="548640" y="3383280"/>
            <a:ext cx="11064240" cy="841248"/>
          </a:xfrm>
          <a:prstGeom prst="roundRect">
            <a:avLst>
              <a:gd name="adj" fmla="val 8696"/>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17" name="Shape 15"/>
          <p:cNvSpPr/>
          <p:nvPr/>
        </p:nvSpPr>
        <p:spPr>
          <a:xfrm>
            <a:off x="749808" y="3630168"/>
            <a:ext cx="347472" cy="347472"/>
          </a:xfrm>
          <a:prstGeom prst="ellipse">
            <a:avLst/>
          </a:prstGeom>
          <a:solidFill>
            <a:srgbClr val="028090"/>
          </a:solidFill>
          <a:ln/>
        </p:spPr>
        <p:txBody>
          <a:bodyPr/>
          <a:lstStyle/>
          <a:p>
            <a:endParaRPr lang="en-US"/>
          </a:p>
        </p:txBody>
      </p:sp>
      <p:sp>
        <p:nvSpPr>
          <p:cNvPr id="18" name="Text 16"/>
          <p:cNvSpPr/>
          <p:nvPr/>
        </p:nvSpPr>
        <p:spPr>
          <a:xfrm>
            <a:off x="749808" y="363016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1280160" y="3474720"/>
            <a:ext cx="9966960" cy="274320"/>
          </a:xfrm>
          <a:prstGeom prst="rect">
            <a:avLst/>
          </a:prstGeom>
          <a:noFill/>
          <a:ln/>
        </p:spPr>
        <p:txBody>
          <a:bodyPr wrap="square" lIns="0" tIns="0" rIns="0" bIns="0" rtlCol="0" anchor="ctr"/>
          <a:lstStyle/>
          <a:p>
            <a:pPr marL="0" indent="0">
              <a:buNone/>
            </a:pPr>
            <a:r>
              <a:rPr lang="en-US" sz="1200" b="1" dirty="0">
                <a:solidFill>
                  <a:srgbClr val="1B3A4B"/>
                </a:solidFill>
                <a:latin typeface="Calibri" pitchFamily="34" charset="0"/>
                <a:ea typeface="Calibri" pitchFamily="34" charset="-122"/>
                <a:cs typeface="Calibri" pitchFamily="34" charset="-120"/>
              </a:rPr>
              <a:t>Our World in Data (Global Change Data Lab, Univ. of Oxford)</a:t>
            </a:r>
            <a:endParaRPr lang="en-US" sz="1200" dirty="0"/>
          </a:p>
        </p:txBody>
      </p:sp>
      <p:sp>
        <p:nvSpPr>
          <p:cNvPr id="20" name="Text 18"/>
          <p:cNvSpPr/>
          <p:nvPr/>
        </p:nvSpPr>
        <p:spPr>
          <a:xfrm>
            <a:off x="1280160" y="3730752"/>
            <a:ext cx="9966960" cy="256032"/>
          </a:xfrm>
          <a:prstGeom prst="rect">
            <a:avLst/>
          </a:prstGeom>
          <a:noFill/>
          <a:ln/>
        </p:spPr>
        <p:txBody>
          <a:bodyPr wrap="square" lIns="0" tIns="0" rIns="0" bIns="0" rtlCol="0" anchor="ctr"/>
          <a:lstStyle/>
          <a:p>
            <a:pPr marL="0" indent="0">
              <a:buNone/>
            </a:pPr>
            <a:r>
              <a:rPr lang="en-US" sz="1050" i="1" dirty="0">
                <a:solidFill>
                  <a:srgbClr val="5B6E70"/>
                </a:solidFill>
                <a:latin typeface="Calibri" pitchFamily="34" charset="0"/>
                <a:ea typeface="Calibri" pitchFamily="34" charset="-122"/>
                <a:cs typeface="Calibri" pitchFamily="34" charset="-120"/>
              </a:rPr>
              <a:t>Our World in Data — Statistics and Research</a:t>
            </a:r>
            <a:endParaRPr lang="en-US" sz="1050" dirty="0"/>
          </a:p>
        </p:txBody>
      </p:sp>
      <p:sp>
        <p:nvSpPr>
          <p:cNvPr id="21" name="Text 19"/>
          <p:cNvSpPr/>
          <p:nvPr/>
        </p:nvSpPr>
        <p:spPr>
          <a:xfrm>
            <a:off x="1280160" y="3959352"/>
            <a:ext cx="9966960" cy="237744"/>
          </a:xfrm>
          <a:prstGeom prst="rect">
            <a:avLst/>
          </a:prstGeom>
          <a:noFill/>
          <a:ln/>
        </p:spPr>
        <p:txBody>
          <a:bodyPr wrap="square" lIns="0" tIns="0" rIns="0" bIns="0" rtlCol="0" anchor="ctr"/>
          <a:lstStyle/>
          <a:p>
            <a:pPr marL="0" indent="0">
              <a:buNone/>
            </a:pPr>
            <a:r>
              <a:rPr lang="en-US" sz="1000" dirty="0">
                <a:solidFill>
                  <a:srgbClr val="028090"/>
                </a:solidFill>
                <a:latin typeface="Calibri" pitchFamily="34" charset="0"/>
                <a:ea typeface="Calibri" pitchFamily="34" charset="-122"/>
                <a:cs typeface="Calibri" pitchFamily="34" charset="-120"/>
              </a:rPr>
              <a:t>https://ourworldindata.org/</a:t>
            </a:r>
            <a:endParaRPr lang="en-US" sz="1000" dirty="0"/>
          </a:p>
        </p:txBody>
      </p:sp>
      <p:sp>
        <p:nvSpPr>
          <p:cNvPr id="22" name="Shape 20"/>
          <p:cNvSpPr/>
          <p:nvPr/>
        </p:nvSpPr>
        <p:spPr>
          <a:xfrm>
            <a:off x="548640" y="4343400"/>
            <a:ext cx="11064240" cy="841248"/>
          </a:xfrm>
          <a:prstGeom prst="roundRect">
            <a:avLst>
              <a:gd name="adj" fmla="val 8696"/>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23" name="Shape 21"/>
          <p:cNvSpPr/>
          <p:nvPr/>
        </p:nvSpPr>
        <p:spPr>
          <a:xfrm>
            <a:off x="749808" y="4590288"/>
            <a:ext cx="347472" cy="347472"/>
          </a:xfrm>
          <a:prstGeom prst="ellipse">
            <a:avLst/>
          </a:prstGeom>
          <a:solidFill>
            <a:srgbClr val="028090"/>
          </a:solidFill>
          <a:ln/>
        </p:spPr>
        <p:txBody>
          <a:bodyPr/>
          <a:lstStyle/>
          <a:p>
            <a:endParaRPr lang="en-US"/>
          </a:p>
        </p:txBody>
      </p:sp>
      <p:sp>
        <p:nvSpPr>
          <p:cNvPr id="24" name="Text 22"/>
          <p:cNvSpPr/>
          <p:nvPr/>
        </p:nvSpPr>
        <p:spPr>
          <a:xfrm>
            <a:off x="749808" y="459028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1280160" y="4434840"/>
            <a:ext cx="9966960" cy="274320"/>
          </a:xfrm>
          <a:prstGeom prst="rect">
            <a:avLst/>
          </a:prstGeom>
          <a:noFill/>
          <a:ln/>
        </p:spPr>
        <p:txBody>
          <a:bodyPr wrap="square" lIns="0" tIns="0" rIns="0" bIns="0" rtlCol="0" anchor="ctr"/>
          <a:lstStyle/>
          <a:p>
            <a:pPr marL="0" indent="0">
              <a:buNone/>
            </a:pPr>
            <a:r>
              <a:rPr lang="en-US" sz="1200" b="1" dirty="0">
                <a:solidFill>
                  <a:srgbClr val="1B3A4B"/>
                </a:solidFill>
                <a:latin typeface="Calibri" pitchFamily="34" charset="0"/>
                <a:ea typeface="Calibri" pitchFamily="34" charset="-122"/>
                <a:cs typeface="Calibri" pitchFamily="34" charset="-120"/>
              </a:rPr>
              <a:t>United Nations</a:t>
            </a:r>
            <a:endParaRPr lang="en-US" sz="1200" dirty="0"/>
          </a:p>
        </p:txBody>
      </p:sp>
      <p:sp>
        <p:nvSpPr>
          <p:cNvPr id="26" name="Text 24"/>
          <p:cNvSpPr/>
          <p:nvPr/>
        </p:nvSpPr>
        <p:spPr>
          <a:xfrm>
            <a:off x="1280160" y="4690872"/>
            <a:ext cx="9966960" cy="256032"/>
          </a:xfrm>
          <a:prstGeom prst="rect">
            <a:avLst/>
          </a:prstGeom>
          <a:noFill/>
          <a:ln/>
        </p:spPr>
        <p:txBody>
          <a:bodyPr wrap="square" lIns="0" tIns="0" rIns="0" bIns="0" rtlCol="0" anchor="ctr"/>
          <a:lstStyle/>
          <a:p>
            <a:pPr marL="0" indent="0">
              <a:buNone/>
            </a:pPr>
            <a:r>
              <a:rPr lang="en-US" sz="1050" i="1" dirty="0">
                <a:solidFill>
                  <a:srgbClr val="5B6E70"/>
                </a:solidFill>
                <a:latin typeface="Calibri" pitchFamily="34" charset="0"/>
                <a:ea typeface="Calibri" pitchFamily="34" charset="-122"/>
                <a:cs typeface="Calibri" pitchFamily="34" charset="-120"/>
              </a:rPr>
              <a:t>UNdata — UN Statistics Division Data Repository</a:t>
            </a:r>
            <a:endParaRPr lang="en-US" sz="1050" dirty="0"/>
          </a:p>
        </p:txBody>
      </p:sp>
      <p:sp>
        <p:nvSpPr>
          <p:cNvPr id="27" name="Text 25"/>
          <p:cNvSpPr/>
          <p:nvPr/>
        </p:nvSpPr>
        <p:spPr>
          <a:xfrm>
            <a:off x="1280160" y="4919472"/>
            <a:ext cx="9966960" cy="237744"/>
          </a:xfrm>
          <a:prstGeom prst="rect">
            <a:avLst/>
          </a:prstGeom>
          <a:noFill/>
          <a:ln/>
        </p:spPr>
        <p:txBody>
          <a:bodyPr wrap="square" lIns="0" tIns="0" rIns="0" bIns="0" rtlCol="0" anchor="ctr"/>
          <a:lstStyle/>
          <a:p>
            <a:pPr marL="0" indent="0">
              <a:buNone/>
            </a:pPr>
            <a:r>
              <a:rPr lang="en-US" sz="1000" dirty="0">
                <a:solidFill>
                  <a:srgbClr val="028090"/>
                </a:solidFill>
                <a:latin typeface="Calibri" pitchFamily="34" charset="0"/>
                <a:ea typeface="Calibri" pitchFamily="34" charset="-122"/>
                <a:cs typeface="Calibri" pitchFamily="34" charset="-120"/>
              </a:rPr>
              <a:t>https://data.un.org/</a:t>
            </a:r>
            <a:endParaRPr lang="en-US" sz="1000" dirty="0"/>
          </a:p>
        </p:txBody>
      </p:sp>
      <p:sp>
        <p:nvSpPr>
          <p:cNvPr id="28" name="Shape 26"/>
          <p:cNvSpPr/>
          <p:nvPr/>
        </p:nvSpPr>
        <p:spPr>
          <a:xfrm>
            <a:off x="548640" y="5303520"/>
            <a:ext cx="11064240" cy="841248"/>
          </a:xfrm>
          <a:prstGeom prst="roundRect">
            <a:avLst>
              <a:gd name="adj" fmla="val 8696"/>
            </a:avLst>
          </a:prstGeom>
          <a:solidFill>
            <a:srgbClr val="F2F7F7"/>
          </a:solidFill>
          <a:ln/>
          <a:effectLst>
            <a:outerShdw blurRad="76200" dist="25400" dir="5400000" algn="bl" rotWithShape="0">
              <a:srgbClr val="1B3A4B">
                <a:alpha val="12000"/>
              </a:srgbClr>
            </a:outerShdw>
          </a:effectLst>
        </p:spPr>
        <p:txBody>
          <a:bodyPr/>
          <a:lstStyle/>
          <a:p>
            <a:endParaRPr lang="en-US"/>
          </a:p>
        </p:txBody>
      </p:sp>
      <p:sp>
        <p:nvSpPr>
          <p:cNvPr id="29" name="Shape 27"/>
          <p:cNvSpPr/>
          <p:nvPr/>
        </p:nvSpPr>
        <p:spPr>
          <a:xfrm>
            <a:off x="749808" y="5550408"/>
            <a:ext cx="347472" cy="347472"/>
          </a:xfrm>
          <a:prstGeom prst="ellipse">
            <a:avLst/>
          </a:prstGeom>
          <a:solidFill>
            <a:srgbClr val="028090"/>
          </a:solidFill>
          <a:ln/>
        </p:spPr>
        <p:txBody>
          <a:bodyPr/>
          <a:lstStyle/>
          <a:p>
            <a:endParaRPr lang="en-US"/>
          </a:p>
        </p:txBody>
      </p:sp>
      <p:sp>
        <p:nvSpPr>
          <p:cNvPr id="30" name="Text 28"/>
          <p:cNvSpPr/>
          <p:nvPr/>
        </p:nvSpPr>
        <p:spPr>
          <a:xfrm>
            <a:off x="749808" y="555040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1" name="Text 29"/>
          <p:cNvSpPr/>
          <p:nvPr/>
        </p:nvSpPr>
        <p:spPr>
          <a:xfrm>
            <a:off x="1280160" y="5394960"/>
            <a:ext cx="9966960" cy="274320"/>
          </a:xfrm>
          <a:prstGeom prst="rect">
            <a:avLst/>
          </a:prstGeom>
          <a:noFill/>
          <a:ln/>
        </p:spPr>
        <p:txBody>
          <a:bodyPr wrap="square" lIns="0" tIns="0" rIns="0" bIns="0" rtlCol="0" anchor="ctr"/>
          <a:lstStyle/>
          <a:p>
            <a:pPr marL="0" indent="0">
              <a:buNone/>
            </a:pPr>
            <a:r>
              <a:rPr lang="en-US" sz="1200" b="1" dirty="0">
                <a:solidFill>
                  <a:srgbClr val="1B3A4B"/>
                </a:solidFill>
                <a:latin typeface="Calibri" pitchFamily="34" charset="0"/>
                <a:ea typeface="Calibri" pitchFamily="34" charset="-122"/>
                <a:cs typeface="Calibri" pitchFamily="34" charset="-120"/>
              </a:rPr>
              <a:t>Helliwell, J. F., Layard, R., Sachs, J. D., De Neve, J.-E., Aknin, L. B., &amp; Wang, S. (Eds.)</a:t>
            </a:r>
            <a:endParaRPr lang="en-US" sz="1200" dirty="0"/>
          </a:p>
        </p:txBody>
      </p:sp>
      <p:sp>
        <p:nvSpPr>
          <p:cNvPr id="32" name="Text 30"/>
          <p:cNvSpPr/>
          <p:nvPr/>
        </p:nvSpPr>
        <p:spPr>
          <a:xfrm>
            <a:off x="1280160" y="5650992"/>
            <a:ext cx="9966960" cy="256032"/>
          </a:xfrm>
          <a:prstGeom prst="rect">
            <a:avLst/>
          </a:prstGeom>
          <a:noFill/>
          <a:ln/>
        </p:spPr>
        <p:txBody>
          <a:bodyPr wrap="square" lIns="0" tIns="0" rIns="0" bIns="0" rtlCol="0" anchor="ctr"/>
          <a:lstStyle/>
          <a:p>
            <a:pPr marL="0" indent="0">
              <a:buNone/>
            </a:pPr>
            <a:r>
              <a:rPr lang="en-US" sz="1050" i="1" dirty="0">
                <a:solidFill>
                  <a:srgbClr val="5B6E70"/>
                </a:solidFill>
                <a:latin typeface="Calibri" pitchFamily="34" charset="0"/>
                <a:ea typeface="Calibri" pitchFamily="34" charset="-122"/>
                <a:cs typeface="Calibri" pitchFamily="34" charset="-120"/>
              </a:rPr>
              <a:t>World Happiness Report 2026, University of Oxford: Wellbeing Research Centre</a:t>
            </a:r>
            <a:endParaRPr lang="en-US" sz="1050" dirty="0"/>
          </a:p>
        </p:txBody>
      </p:sp>
      <p:sp>
        <p:nvSpPr>
          <p:cNvPr id="33" name="Text 31"/>
          <p:cNvSpPr/>
          <p:nvPr/>
        </p:nvSpPr>
        <p:spPr>
          <a:xfrm>
            <a:off x="1280160" y="5879592"/>
            <a:ext cx="9966960" cy="237744"/>
          </a:xfrm>
          <a:prstGeom prst="rect">
            <a:avLst/>
          </a:prstGeom>
          <a:noFill/>
          <a:ln/>
        </p:spPr>
        <p:txBody>
          <a:bodyPr wrap="square" lIns="0" tIns="0" rIns="0" bIns="0" rtlCol="0" anchor="ctr"/>
          <a:lstStyle/>
          <a:p>
            <a:pPr marL="0" indent="0">
              <a:buNone/>
            </a:pPr>
            <a:r>
              <a:rPr lang="en-US" sz="1000" dirty="0">
                <a:solidFill>
                  <a:srgbClr val="028090"/>
                </a:solidFill>
                <a:latin typeface="Calibri" pitchFamily="34" charset="0"/>
                <a:ea typeface="Calibri" pitchFamily="34" charset="-122"/>
                <a:cs typeface="Calibri" pitchFamily="34" charset="-120"/>
              </a:rPr>
              <a:t>https://www.worldhappiness.report/</a:t>
            </a:r>
            <a:endParaRPr lang="en-US" sz="1000" dirty="0"/>
          </a:p>
        </p:txBody>
      </p:sp>
      <p:sp>
        <p:nvSpPr>
          <p:cNvPr id="34" name="Text 32"/>
          <p:cNvSpPr/>
          <p:nvPr/>
        </p:nvSpPr>
        <p:spPr>
          <a:xfrm>
            <a:off x="457200" y="6510528"/>
            <a:ext cx="7315200" cy="274320"/>
          </a:xfrm>
          <a:prstGeom prst="rect">
            <a:avLst/>
          </a:prstGeom>
          <a:noFill/>
          <a:ln/>
        </p:spPr>
        <p:txBody>
          <a:bodyPr wrap="square" lIns="0" tIns="0" rIns="0" bIns="0" rtlCol="0" anchor="ctr"/>
          <a:lstStyle/>
          <a:p>
            <a:pPr marL="0" indent="0" algn="l">
              <a:buNone/>
            </a:pPr>
            <a:r>
              <a:rPr lang="en-US" sz="900" dirty="0">
                <a:solidFill>
                  <a:srgbClr val="5B6E70"/>
                </a:solidFill>
                <a:latin typeface="Calibri" pitchFamily="34" charset="0"/>
                <a:ea typeface="Calibri" pitchFamily="34" charset="-122"/>
                <a:cs typeface="Calibri" pitchFamily="34" charset="-120"/>
              </a:rPr>
              <a:t>Beyond GDP: What Really Makes a Country Livable?</a:t>
            </a:r>
            <a:endParaRPr lang="en-US" sz="900" dirty="0"/>
          </a:p>
        </p:txBody>
      </p:sp>
      <p:sp>
        <p:nvSpPr>
          <p:cNvPr id="35" name="Text 33"/>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900" dirty="0">
                <a:solidFill>
                  <a:srgbClr val="5B6E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A4B"/>
        </a:solidFill>
        <a:effectLst/>
      </p:bgPr>
    </p:bg>
    <p:spTree>
      <p:nvGrpSpPr>
        <p:cNvPr id="1" name=""/>
        <p:cNvGrpSpPr/>
        <p:nvPr/>
      </p:nvGrpSpPr>
      <p:grpSpPr>
        <a:xfrm>
          <a:off x="0" y="0"/>
          <a:ext cx="0" cy="0"/>
          <a:chOff x="0" y="0"/>
          <a:chExt cx="0" cy="0"/>
        </a:xfrm>
      </p:grpSpPr>
      <p:sp>
        <p:nvSpPr>
          <p:cNvPr id="2" name="Shape 0"/>
          <p:cNvSpPr/>
          <p:nvPr/>
        </p:nvSpPr>
        <p:spPr>
          <a:xfrm>
            <a:off x="9875520" y="-1645920"/>
            <a:ext cx="4754880" cy="4754880"/>
          </a:xfrm>
          <a:prstGeom prst="ellipse">
            <a:avLst/>
          </a:prstGeom>
          <a:solidFill>
            <a:srgbClr val="028090"/>
          </a:solidFill>
          <a:ln/>
        </p:spPr>
        <p:txBody>
          <a:bodyPr/>
          <a:lstStyle/>
          <a:p>
            <a:endParaRPr lang="en-US"/>
          </a:p>
        </p:txBody>
      </p:sp>
      <p:sp>
        <p:nvSpPr>
          <p:cNvPr id="3" name="Shape 1"/>
          <p:cNvSpPr/>
          <p:nvPr/>
        </p:nvSpPr>
        <p:spPr>
          <a:xfrm>
            <a:off x="-2011680" y="5760720"/>
            <a:ext cx="2743200" cy="2743200"/>
          </a:xfrm>
          <a:prstGeom prst="ellipse">
            <a:avLst/>
          </a:prstGeom>
          <a:solidFill>
            <a:srgbClr val="00A896"/>
          </a:solidFill>
          <a:ln/>
        </p:spPr>
        <p:txBody>
          <a:bodyPr/>
          <a:lstStyle/>
          <a:p>
            <a:endParaRPr lang="en-US"/>
          </a:p>
        </p:txBody>
      </p:sp>
      <p:sp>
        <p:nvSpPr>
          <p:cNvPr id="4" name="Text 2"/>
          <p:cNvSpPr/>
          <p:nvPr/>
        </p:nvSpPr>
        <p:spPr>
          <a:xfrm>
            <a:off x="548640" y="365760"/>
            <a:ext cx="5486400" cy="274320"/>
          </a:xfrm>
          <a:prstGeom prst="rect">
            <a:avLst/>
          </a:prstGeom>
          <a:noFill/>
          <a:ln/>
        </p:spPr>
        <p:txBody>
          <a:bodyPr wrap="square" lIns="0" tIns="0" rIns="0" bIns="0"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CLOSING</a:t>
            </a:r>
            <a:endParaRPr lang="en-US" sz="1200" dirty="0"/>
          </a:p>
        </p:txBody>
      </p:sp>
      <p:sp>
        <p:nvSpPr>
          <p:cNvPr id="5" name="Text 3"/>
          <p:cNvSpPr/>
          <p:nvPr/>
        </p:nvSpPr>
        <p:spPr>
          <a:xfrm>
            <a:off x="548640" y="621792"/>
            <a:ext cx="11064240" cy="59436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Makes Our Project Different?</a:t>
            </a:r>
            <a:endParaRPr lang="en-US" sz="2800" dirty="0"/>
          </a:p>
        </p:txBody>
      </p:sp>
      <p:sp>
        <p:nvSpPr>
          <p:cNvPr id="6" name="Shape 4"/>
          <p:cNvSpPr/>
          <p:nvPr/>
        </p:nvSpPr>
        <p:spPr>
          <a:xfrm>
            <a:off x="548640" y="1417320"/>
            <a:ext cx="3566160" cy="1508760"/>
          </a:xfrm>
          <a:prstGeom prst="roundRect">
            <a:avLst>
              <a:gd name="adj" fmla="val 4848"/>
            </a:avLst>
          </a:prstGeom>
          <a:solidFill>
            <a:srgbClr val="0E4B57"/>
          </a:solidFill>
          <a:ln/>
        </p:spPr>
        <p:txBody>
          <a:bodyPr/>
          <a:lstStyle/>
          <a:p>
            <a:endParaRPr lang="en-US"/>
          </a:p>
        </p:txBody>
      </p:sp>
      <p:sp>
        <p:nvSpPr>
          <p:cNvPr id="7" name="Shape 5"/>
          <p:cNvSpPr/>
          <p:nvPr/>
        </p:nvSpPr>
        <p:spPr>
          <a:xfrm>
            <a:off x="731520" y="1600200"/>
            <a:ext cx="347472" cy="347472"/>
          </a:xfrm>
          <a:prstGeom prst="ellipse">
            <a:avLst/>
          </a:prstGeom>
          <a:solidFill>
            <a:srgbClr val="02C39A"/>
          </a:solidFill>
          <a:ln/>
        </p:spPr>
        <p:txBody>
          <a:bodyPr/>
          <a:lstStyle/>
          <a:p>
            <a:endParaRPr lang="en-US"/>
          </a:p>
        </p:txBody>
      </p:sp>
      <p:sp>
        <p:nvSpPr>
          <p:cNvPr id="8" name="Text 6"/>
          <p:cNvSpPr/>
          <p:nvPr/>
        </p:nvSpPr>
        <p:spPr>
          <a:xfrm>
            <a:off x="731520" y="16002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731520" y="2039112"/>
            <a:ext cx="32004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Goes beyond ranking</a:t>
            </a:r>
            <a:endParaRPr lang="en-US" sz="1250" dirty="0"/>
          </a:p>
        </p:txBody>
      </p:sp>
      <p:sp>
        <p:nvSpPr>
          <p:cNvPr id="10" name="Text 8"/>
          <p:cNvSpPr/>
          <p:nvPr/>
        </p:nvSpPr>
        <p:spPr>
          <a:xfrm>
            <a:off x="731520" y="2350008"/>
            <a:ext cx="3200400" cy="502920"/>
          </a:xfrm>
          <a:prstGeom prst="rect">
            <a:avLst/>
          </a:prstGeom>
          <a:noFill/>
          <a:ln/>
        </p:spPr>
        <p:txBody>
          <a:bodyPr wrap="square" lIns="0" tIns="0" rIns="0" bIns="0" rtlCol="0" anchor="ctr"/>
          <a:lstStyle/>
          <a:p>
            <a:pPr marL="0" indent="0">
              <a:lnSpc>
                <a:spcPct val="105000"/>
              </a:lnSpc>
              <a:buNone/>
            </a:pPr>
            <a:r>
              <a:rPr lang="en-US" sz="980" dirty="0">
                <a:solidFill>
                  <a:srgbClr val="CADCE0"/>
                </a:solidFill>
                <a:latin typeface="Calibri" pitchFamily="34" charset="0"/>
                <a:ea typeface="Calibri" pitchFamily="34" charset="-122"/>
                <a:cs typeface="Calibri" pitchFamily="34" charset="-120"/>
              </a:rPr>
              <a:t>We don't just rank countries — we explore why they differ across dimensions.</a:t>
            </a:r>
            <a:endParaRPr lang="en-US" sz="980" dirty="0"/>
          </a:p>
        </p:txBody>
      </p:sp>
      <p:sp>
        <p:nvSpPr>
          <p:cNvPr id="11" name="Shape 9"/>
          <p:cNvSpPr/>
          <p:nvPr/>
        </p:nvSpPr>
        <p:spPr>
          <a:xfrm>
            <a:off x="4297680" y="1417320"/>
            <a:ext cx="3566160" cy="1508760"/>
          </a:xfrm>
          <a:prstGeom prst="roundRect">
            <a:avLst>
              <a:gd name="adj" fmla="val 4848"/>
            </a:avLst>
          </a:prstGeom>
          <a:solidFill>
            <a:srgbClr val="0E4B57"/>
          </a:solidFill>
          <a:ln/>
        </p:spPr>
        <p:txBody>
          <a:bodyPr/>
          <a:lstStyle/>
          <a:p>
            <a:endParaRPr lang="en-US"/>
          </a:p>
        </p:txBody>
      </p:sp>
      <p:sp>
        <p:nvSpPr>
          <p:cNvPr id="12" name="Shape 10"/>
          <p:cNvSpPr/>
          <p:nvPr/>
        </p:nvSpPr>
        <p:spPr>
          <a:xfrm>
            <a:off x="4480560" y="1600200"/>
            <a:ext cx="347472" cy="347472"/>
          </a:xfrm>
          <a:prstGeom prst="ellipse">
            <a:avLst/>
          </a:prstGeom>
          <a:solidFill>
            <a:srgbClr val="02C39A"/>
          </a:solidFill>
          <a:ln/>
        </p:spPr>
        <p:txBody>
          <a:bodyPr/>
          <a:lstStyle/>
          <a:p>
            <a:endParaRPr lang="en-US"/>
          </a:p>
        </p:txBody>
      </p:sp>
      <p:sp>
        <p:nvSpPr>
          <p:cNvPr id="13" name="Text 11"/>
          <p:cNvSpPr/>
          <p:nvPr/>
        </p:nvSpPr>
        <p:spPr>
          <a:xfrm>
            <a:off x="4480560" y="16002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4480560" y="2039112"/>
            <a:ext cx="32004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Four-dimensional lens</a:t>
            </a:r>
            <a:endParaRPr lang="en-US" sz="1250" dirty="0"/>
          </a:p>
        </p:txBody>
      </p:sp>
      <p:sp>
        <p:nvSpPr>
          <p:cNvPr id="15" name="Text 13"/>
          <p:cNvSpPr/>
          <p:nvPr/>
        </p:nvSpPr>
        <p:spPr>
          <a:xfrm>
            <a:off x="4480560" y="2350008"/>
            <a:ext cx="3200400" cy="502920"/>
          </a:xfrm>
          <a:prstGeom prst="rect">
            <a:avLst/>
          </a:prstGeom>
          <a:noFill/>
          <a:ln/>
        </p:spPr>
        <p:txBody>
          <a:bodyPr wrap="square" lIns="0" tIns="0" rIns="0" bIns="0" rtlCol="0" anchor="ctr"/>
          <a:lstStyle/>
          <a:p>
            <a:pPr marL="0" indent="0">
              <a:lnSpc>
                <a:spcPct val="105000"/>
              </a:lnSpc>
              <a:buNone/>
            </a:pPr>
            <a:r>
              <a:rPr lang="en-US" sz="980" dirty="0">
                <a:solidFill>
                  <a:srgbClr val="CADCE0"/>
                </a:solidFill>
                <a:latin typeface="Calibri" pitchFamily="34" charset="0"/>
                <a:ea typeface="Calibri" pitchFamily="34" charset="-122"/>
                <a:cs typeface="Calibri" pitchFamily="34" charset="-120"/>
              </a:rPr>
              <a:t>Economic, health, social and environmental indicators are studied together, not in isolation.</a:t>
            </a:r>
            <a:endParaRPr lang="en-US" sz="980" dirty="0"/>
          </a:p>
        </p:txBody>
      </p:sp>
      <p:sp>
        <p:nvSpPr>
          <p:cNvPr id="16" name="Shape 14"/>
          <p:cNvSpPr/>
          <p:nvPr/>
        </p:nvSpPr>
        <p:spPr>
          <a:xfrm>
            <a:off x="8046720" y="1417320"/>
            <a:ext cx="3566160" cy="1508760"/>
          </a:xfrm>
          <a:prstGeom prst="roundRect">
            <a:avLst>
              <a:gd name="adj" fmla="val 4848"/>
            </a:avLst>
          </a:prstGeom>
          <a:solidFill>
            <a:srgbClr val="0E4B57"/>
          </a:solidFill>
          <a:ln/>
        </p:spPr>
        <p:txBody>
          <a:bodyPr/>
          <a:lstStyle/>
          <a:p>
            <a:endParaRPr lang="en-US"/>
          </a:p>
        </p:txBody>
      </p:sp>
      <p:sp>
        <p:nvSpPr>
          <p:cNvPr id="17" name="Shape 15"/>
          <p:cNvSpPr/>
          <p:nvPr/>
        </p:nvSpPr>
        <p:spPr>
          <a:xfrm>
            <a:off x="8229600" y="1600200"/>
            <a:ext cx="347472" cy="347472"/>
          </a:xfrm>
          <a:prstGeom prst="ellipse">
            <a:avLst/>
          </a:prstGeom>
          <a:solidFill>
            <a:srgbClr val="02C39A"/>
          </a:solidFill>
          <a:ln/>
        </p:spPr>
        <p:txBody>
          <a:bodyPr/>
          <a:lstStyle/>
          <a:p>
            <a:endParaRPr lang="en-US"/>
          </a:p>
        </p:txBody>
      </p:sp>
      <p:sp>
        <p:nvSpPr>
          <p:cNvPr id="18" name="Text 16"/>
          <p:cNvSpPr/>
          <p:nvPr/>
        </p:nvSpPr>
        <p:spPr>
          <a:xfrm>
            <a:off x="8229600" y="16002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8229600" y="2039112"/>
            <a:ext cx="32004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Trade-off focused</a:t>
            </a:r>
            <a:endParaRPr lang="en-US" sz="1250" dirty="0"/>
          </a:p>
        </p:txBody>
      </p:sp>
      <p:sp>
        <p:nvSpPr>
          <p:cNvPr id="20" name="Text 18"/>
          <p:cNvSpPr/>
          <p:nvPr/>
        </p:nvSpPr>
        <p:spPr>
          <a:xfrm>
            <a:off x="8229600" y="2350008"/>
            <a:ext cx="3200400" cy="502920"/>
          </a:xfrm>
          <a:prstGeom prst="rect">
            <a:avLst/>
          </a:prstGeom>
          <a:noFill/>
          <a:ln/>
        </p:spPr>
        <p:txBody>
          <a:bodyPr wrap="square" lIns="0" tIns="0" rIns="0" bIns="0" rtlCol="0" anchor="ctr"/>
          <a:lstStyle/>
          <a:p>
            <a:pPr marL="0" indent="0">
              <a:lnSpc>
                <a:spcPct val="105000"/>
              </a:lnSpc>
              <a:buNone/>
            </a:pPr>
            <a:r>
              <a:rPr lang="en-US" sz="980" dirty="0">
                <a:solidFill>
                  <a:srgbClr val="CADCE0"/>
                </a:solidFill>
                <a:latin typeface="Calibri" pitchFamily="34" charset="0"/>
                <a:ea typeface="Calibri" pitchFamily="34" charset="-122"/>
                <a:cs typeface="Calibri" pitchFamily="34" charset="-120"/>
              </a:rPr>
              <a:t>Explicit analysis of economic–environmental trade-offs (e.g., GDP vs. CO₂).</a:t>
            </a:r>
            <a:endParaRPr lang="en-US" sz="980" dirty="0"/>
          </a:p>
        </p:txBody>
      </p:sp>
      <p:sp>
        <p:nvSpPr>
          <p:cNvPr id="21" name="Shape 19"/>
          <p:cNvSpPr/>
          <p:nvPr/>
        </p:nvSpPr>
        <p:spPr>
          <a:xfrm>
            <a:off x="548640" y="3108960"/>
            <a:ext cx="3566160" cy="1508760"/>
          </a:xfrm>
          <a:prstGeom prst="roundRect">
            <a:avLst>
              <a:gd name="adj" fmla="val 4848"/>
            </a:avLst>
          </a:prstGeom>
          <a:solidFill>
            <a:srgbClr val="0E4B57"/>
          </a:solidFill>
          <a:ln/>
        </p:spPr>
        <p:txBody>
          <a:bodyPr/>
          <a:lstStyle/>
          <a:p>
            <a:endParaRPr lang="en-US"/>
          </a:p>
        </p:txBody>
      </p:sp>
      <p:sp>
        <p:nvSpPr>
          <p:cNvPr id="22" name="Shape 20"/>
          <p:cNvSpPr/>
          <p:nvPr/>
        </p:nvSpPr>
        <p:spPr>
          <a:xfrm>
            <a:off x="731520" y="3291840"/>
            <a:ext cx="347472" cy="347472"/>
          </a:xfrm>
          <a:prstGeom prst="ellipse">
            <a:avLst/>
          </a:prstGeom>
          <a:solidFill>
            <a:srgbClr val="02C39A"/>
          </a:solidFill>
          <a:ln/>
        </p:spPr>
        <p:txBody>
          <a:bodyPr/>
          <a:lstStyle/>
          <a:p>
            <a:endParaRPr lang="en-US"/>
          </a:p>
        </p:txBody>
      </p:sp>
      <p:sp>
        <p:nvSpPr>
          <p:cNvPr id="23" name="Text 21"/>
          <p:cNvSpPr/>
          <p:nvPr/>
        </p:nvSpPr>
        <p:spPr>
          <a:xfrm>
            <a:off x="731520" y="32918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4" name="Text 22"/>
          <p:cNvSpPr/>
          <p:nvPr/>
        </p:nvSpPr>
        <p:spPr>
          <a:xfrm>
            <a:off x="731520" y="3730752"/>
            <a:ext cx="32004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Outlier-driven discovery</a:t>
            </a:r>
            <a:endParaRPr lang="en-US" sz="1250" dirty="0"/>
          </a:p>
        </p:txBody>
      </p:sp>
      <p:sp>
        <p:nvSpPr>
          <p:cNvPr id="25" name="Text 23"/>
          <p:cNvSpPr/>
          <p:nvPr/>
        </p:nvSpPr>
        <p:spPr>
          <a:xfrm>
            <a:off x="731520" y="4041648"/>
            <a:ext cx="3200400" cy="502920"/>
          </a:xfrm>
          <a:prstGeom prst="rect">
            <a:avLst/>
          </a:prstGeom>
          <a:noFill/>
          <a:ln/>
        </p:spPr>
        <p:txBody>
          <a:bodyPr wrap="square" lIns="0" tIns="0" rIns="0" bIns="0" rtlCol="0" anchor="ctr"/>
          <a:lstStyle/>
          <a:p>
            <a:pPr marL="0" indent="0">
              <a:lnSpc>
                <a:spcPct val="105000"/>
              </a:lnSpc>
              <a:buNone/>
            </a:pPr>
            <a:r>
              <a:rPr lang="en-US" sz="980" dirty="0">
                <a:solidFill>
                  <a:srgbClr val="CADCE0"/>
                </a:solidFill>
                <a:latin typeface="Calibri" pitchFamily="34" charset="0"/>
                <a:ea typeface="Calibri" pitchFamily="34" charset="-122"/>
                <a:cs typeface="Calibri" pitchFamily="34" charset="-120"/>
              </a:rPr>
              <a:t>Deliberate focus on countries that defy expected development trends.</a:t>
            </a:r>
            <a:endParaRPr lang="en-US" sz="980" dirty="0"/>
          </a:p>
        </p:txBody>
      </p:sp>
      <p:sp>
        <p:nvSpPr>
          <p:cNvPr id="26" name="Shape 24"/>
          <p:cNvSpPr/>
          <p:nvPr/>
        </p:nvSpPr>
        <p:spPr>
          <a:xfrm>
            <a:off x="4297680" y="3108960"/>
            <a:ext cx="3566160" cy="1508760"/>
          </a:xfrm>
          <a:prstGeom prst="roundRect">
            <a:avLst>
              <a:gd name="adj" fmla="val 4848"/>
            </a:avLst>
          </a:prstGeom>
          <a:solidFill>
            <a:srgbClr val="0E4B57"/>
          </a:solidFill>
          <a:ln/>
        </p:spPr>
        <p:txBody>
          <a:bodyPr/>
          <a:lstStyle/>
          <a:p>
            <a:endParaRPr lang="en-US"/>
          </a:p>
        </p:txBody>
      </p:sp>
      <p:sp>
        <p:nvSpPr>
          <p:cNvPr id="27" name="Shape 25"/>
          <p:cNvSpPr/>
          <p:nvPr/>
        </p:nvSpPr>
        <p:spPr>
          <a:xfrm>
            <a:off x="4480560" y="3291840"/>
            <a:ext cx="347472" cy="347472"/>
          </a:xfrm>
          <a:prstGeom prst="ellipse">
            <a:avLst/>
          </a:prstGeom>
          <a:solidFill>
            <a:srgbClr val="02C39A"/>
          </a:solidFill>
          <a:ln/>
        </p:spPr>
        <p:txBody>
          <a:bodyPr/>
          <a:lstStyle/>
          <a:p>
            <a:endParaRPr lang="en-US"/>
          </a:p>
        </p:txBody>
      </p:sp>
      <p:sp>
        <p:nvSpPr>
          <p:cNvPr id="28" name="Text 26"/>
          <p:cNvSpPr/>
          <p:nvPr/>
        </p:nvSpPr>
        <p:spPr>
          <a:xfrm>
            <a:off x="4480560" y="32918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9" name="Text 27"/>
          <p:cNvSpPr/>
          <p:nvPr/>
        </p:nvSpPr>
        <p:spPr>
          <a:xfrm>
            <a:off x="4480560" y="3730752"/>
            <a:ext cx="32004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Country livability profiles</a:t>
            </a:r>
            <a:endParaRPr lang="en-US" sz="1250" dirty="0"/>
          </a:p>
        </p:txBody>
      </p:sp>
      <p:sp>
        <p:nvSpPr>
          <p:cNvPr id="30" name="Text 28"/>
          <p:cNvSpPr/>
          <p:nvPr/>
        </p:nvSpPr>
        <p:spPr>
          <a:xfrm>
            <a:off x="4480560" y="4041648"/>
            <a:ext cx="3200400" cy="502920"/>
          </a:xfrm>
          <a:prstGeom prst="rect">
            <a:avLst/>
          </a:prstGeom>
          <a:noFill/>
          <a:ln/>
        </p:spPr>
        <p:txBody>
          <a:bodyPr wrap="square" lIns="0" tIns="0" rIns="0" bIns="0" rtlCol="0" anchor="ctr"/>
          <a:lstStyle/>
          <a:p>
            <a:pPr marL="0" indent="0">
              <a:lnSpc>
                <a:spcPct val="105000"/>
              </a:lnSpc>
              <a:buNone/>
            </a:pPr>
            <a:r>
              <a:rPr lang="en-US" sz="980" dirty="0">
                <a:solidFill>
                  <a:srgbClr val="CADCE0"/>
                </a:solidFill>
                <a:latin typeface="Calibri" pitchFamily="34" charset="0"/>
                <a:ea typeface="Calibri" pitchFamily="34" charset="-122"/>
                <a:cs typeface="Calibri" pitchFamily="34" charset="-120"/>
              </a:rPr>
              <a:t>Multidimensional profiles instead of a single flattened score.</a:t>
            </a:r>
            <a:endParaRPr lang="en-US" sz="980" dirty="0"/>
          </a:p>
        </p:txBody>
      </p:sp>
      <p:sp>
        <p:nvSpPr>
          <p:cNvPr id="31" name="Shape 29"/>
          <p:cNvSpPr/>
          <p:nvPr/>
        </p:nvSpPr>
        <p:spPr>
          <a:xfrm>
            <a:off x="8046720" y="3108960"/>
            <a:ext cx="3566160" cy="1508760"/>
          </a:xfrm>
          <a:prstGeom prst="roundRect">
            <a:avLst>
              <a:gd name="adj" fmla="val 4848"/>
            </a:avLst>
          </a:prstGeom>
          <a:solidFill>
            <a:srgbClr val="0E4B57"/>
          </a:solidFill>
          <a:ln/>
        </p:spPr>
        <p:txBody>
          <a:bodyPr/>
          <a:lstStyle/>
          <a:p>
            <a:endParaRPr lang="en-US"/>
          </a:p>
        </p:txBody>
      </p:sp>
      <p:sp>
        <p:nvSpPr>
          <p:cNvPr id="32" name="Shape 30"/>
          <p:cNvSpPr/>
          <p:nvPr/>
        </p:nvSpPr>
        <p:spPr>
          <a:xfrm>
            <a:off x="8229600" y="3291840"/>
            <a:ext cx="347472" cy="347472"/>
          </a:xfrm>
          <a:prstGeom prst="ellipse">
            <a:avLst/>
          </a:prstGeom>
          <a:solidFill>
            <a:srgbClr val="02C39A"/>
          </a:solidFill>
          <a:ln/>
        </p:spPr>
        <p:txBody>
          <a:bodyPr/>
          <a:lstStyle/>
          <a:p>
            <a:endParaRPr lang="en-US"/>
          </a:p>
        </p:txBody>
      </p:sp>
      <p:sp>
        <p:nvSpPr>
          <p:cNvPr id="33" name="Text 31"/>
          <p:cNvSpPr/>
          <p:nvPr/>
        </p:nvSpPr>
        <p:spPr>
          <a:xfrm>
            <a:off x="8229600" y="32918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4" name="Text 32"/>
          <p:cNvSpPr/>
          <p:nvPr/>
        </p:nvSpPr>
        <p:spPr>
          <a:xfrm>
            <a:off x="8229600" y="3730752"/>
            <a:ext cx="32004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Transparent exploratory index</a:t>
            </a:r>
            <a:endParaRPr lang="en-US" sz="1250" dirty="0"/>
          </a:p>
        </p:txBody>
      </p:sp>
      <p:sp>
        <p:nvSpPr>
          <p:cNvPr id="35" name="Text 33"/>
          <p:cNvSpPr/>
          <p:nvPr/>
        </p:nvSpPr>
        <p:spPr>
          <a:xfrm>
            <a:off x="8229600" y="4041648"/>
            <a:ext cx="3200400" cy="502920"/>
          </a:xfrm>
          <a:prstGeom prst="rect">
            <a:avLst/>
          </a:prstGeom>
          <a:noFill/>
          <a:ln/>
        </p:spPr>
        <p:txBody>
          <a:bodyPr wrap="square" lIns="0" tIns="0" rIns="0" bIns="0" rtlCol="0" anchor="ctr"/>
          <a:lstStyle/>
          <a:p>
            <a:pPr marL="0" indent="0">
              <a:lnSpc>
                <a:spcPct val="105000"/>
              </a:lnSpc>
              <a:buNone/>
            </a:pPr>
            <a:r>
              <a:rPr lang="en-US" sz="980" dirty="0">
                <a:solidFill>
                  <a:srgbClr val="CADCE0"/>
                </a:solidFill>
                <a:latin typeface="Calibri" pitchFamily="34" charset="0"/>
                <a:ea typeface="Calibri" pitchFamily="34" charset="-122"/>
                <a:cs typeface="Calibri" pitchFamily="34" charset="-120"/>
              </a:rPr>
              <a:t>An optional index, clearly framed as exploratory — not an official metric.</a:t>
            </a:r>
            <a:endParaRPr lang="en-US" sz="980" dirty="0"/>
          </a:p>
        </p:txBody>
      </p:sp>
      <p:sp>
        <p:nvSpPr>
          <p:cNvPr id="36" name="Shape 34"/>
          <p:cNvSpPr/>
          <p:nvPr/>
        </p:nvSpPr>
        <p:spPr>
          <a:xfrm>
            <a:off x="548640" y="4800600"/>
            <a:ext cx="3566160" cy="1508760"/>
          </a:xfrm>
          <a:prstGeom prst="roundRect">
            <a:avLst>
              <a:gd name="adj" fmla="val 4848"/>
            </a:avLst>
          </a:prstGeom>
          <a:solidFill>
            <a:srgbClr val="0E4B57"/>
          </a:solidFill>
          <a:ln/>
        </p:spPr>
        <p:txBody>
          <a:bodyPr/>
          <a:lstStyle/>
          <a:p>
            <a:endParaRPr lang="en-US"/>
          </a:p>
        </p:txBody>
      </p:sp>
      <p:sp>
        <p:nvSpPr>
          <p:cNvPr id="37" name="Shape 35"/>
          <p:cNvSpPr/>
          <p:nvPr/>
        </p:nvSpPr>
        <p:spPr>
          <a:xfrm>
            <a:off x="731520" y="4983480"/>
            <a:ext cx="347472" cy="347472"/>
          </a:xfrm>
          <a:prstGeom prst="ellipse">
            <a:avLst/>
          </a:prstGeom>
          <a:solidFill>
            <a:srgbClr val="02C39A"/>
          </a:solidFill>
          <a:ln/>
        </p:spPr>
        <p:txBody>
          <a:bodyPr/>
          <a:lstStyle/>
          <a:p>
            <a:endParaRPr lang="en-US"/>
          </a:p>
        </p:txBody>
      </p:sp>
      <p:sp>
        <p:nvSpPr>
          <p:cNvPr id="38" name="Text 36"/>
          <p:cNvSpPr/>
          <p:nvPr/>
        </p:nvSpPr>
        <p:spPr>
          <a:xfrm>
            <a:off x="731520" y="49834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9" name="Text 37"/>
          <p:cNvSpPr/>
          <p:nvPr/>
        </p:nvSpPr>
        <p:spPr>
          <a:xfrm>
            <a:off x="731520" y="5422392"/>
            <a:ext cx="32004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Insight over prediction</a:t>
            </a:r>
            <a:endParaRPr lang="en-US" sz="1250" dirty="0"/>
          </a:p>
        </p:txBody>
      </p:sp>
      <p:sp>
        <p:nvSpPr>
          <p:cNvPr id="40" name="Text 38"/>
          <p:cNvSpPr/>
          <p:nvPr/>
        </p:nvSpPr>
        <p:spPr>
          <a:xfrm>
            <a:off x="731520" y="5733288"/>
            <a:ext cx="3200400" cy="502920"/>
          </a:xfrm>
          <a:prstGeom prst="rect">
            <a:avLst/>
          </a:prstGeom>
          <a:noFill/>
          <a:ln/>
        </p:spPr>
        <p:txBody>
          <a:bodyPr wrap="square" lIns="0" tIns="0" rIns="0" bIns="0" rtlCol="0" anchor="ctr"/>
          <a:lstStyle/>
          <a:p>
            <a:pPr marL="0" indent="0">
              <a:lnSpc>
                <a:spcPct val="105000"/>
              </a:lnSpc>
              <a:buNone/>
            </a:pPr>
            <a:r>
              <a:rPr lang="en-US" sz="980" dirty="0">
                <a:solidFill>
                  <a:srgbClr val="CADCE0"/>
                </a:solidFill>
                <a:latin typeface="Calibri" pitchFamily="34" charset="0"/>
                <a:ea typeface="Calibri" pitchFamily="34" charset="-122"/>
                <a:cs typeface="Calibri" pitchFamily="34" charset="-120"/>
              </a:rPr>
              <a:t>EDA is used to surface patterns and associations, not to build predictive models.</a:t>
            </a:r>
            <a:endParaRPr lang="en-US" sz="980" dirty="0"/>
          </a:p>
        </p:txBody>
      </p:sp>
      <p:sp>
        <p:nvSpPr>
          <p:cNvPr id="41" name="Text 39"/>
          <p:cNvSpPr/>
          <p:nvPr/>
        </p:nvSpPr>
        <p:spPr>
          <a:xfrm>
            <a:off x="548640" y="6263640"/>
            <a:ext cx="5486400" cy="365760"/>
          </a:xfrm>
          <a:prstGeom prst="rect">
            <a:avLst/>
          </a:prstGeom>
          <a:noFill/>
          <a:ln/>
        </p:spPr>
        <p:txBody>
          <a:bodyPr wrap="square" lIns="0" tIns="0" rIns="0" bIns="0" rtlCol="0" anchor="ctr"/>
          <a:lstStyle/>
          <a:p>
            <a:pPr marL="0" indent="0">
              <a:buNone/>
            </a:pPr>
            <a:r>
              <a:rPr lang="en-US" sz="1400" i="1" dirty="0">
                <a:solidFill>
                  <a:srgbClr val="02C39A"/>
                </a:solidFill>
                <a:latin typeface="Cambria" pitchFamily="34" charset="0"/>
                <a:ea typeface="Cambria" pitchFamily="34" charset="-122"/>
                <a:cs typeface="Cambria"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1561</Words>
  <Application>Microsoft Macintosh PowerPoint</Application>
  <PresentationFormat>Widescreen</PresentationFormat>
  <Paragraphs>284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PRIYANSH ASATI</cp:lastModifiedBy>
  <cp:revision>3</cp:revision>
  <dcterms:created xsi:type="dcterms:W3CDTF">2026-08-17T09:59:30Z</dcterms:created>
  <dcterms:modified xsi:type="dcterms:W3CDTF">2026-08-24T16:12:44Z</dcterms:modified>
</cp:coreProperties>
</file>